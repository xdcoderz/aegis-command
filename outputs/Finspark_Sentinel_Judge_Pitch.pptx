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cafe7056a64570" /><Relationship Type="http://schemas.openxmlformats.org/officeDocument/2006/relationships/extended-properties" Target="/docProps/app.xml" Id="Radbcb163d360480c" /><Relationship Type="http://schemas.openxmlformats.org/officeDocument/2006/relationships/officeDocument" Target="/ppt/presentation.xml" Id="Rd62685702eb7445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fc84a3ed2854551"/>
  </p:sldMasterIdLst>
  <p:notesMasterIdLst>
    <p:notesMasterId xmlns:r="http://schemas.openxmlformats.org/officeDocument/2006/relationships" r:id="Racfce6f747f04ca2"/>
  </p:notesMasterIdLst>
  <p:sldIdLst>
    <p:sldId xmlns:r="http://schemas.openxmlformats.org/officeDocument/2006/relationships" id="256" r:id="R45183b8c139344f3"/>
    <p:sldId xmlns:r="http://schemas.openxmlformats.org/officeDocument/2006/relationships" id="257" r:id="R4a9ccb84f1674ebe"/>
    <p:sldId xmlns:r="http://schemas.openxmlformats.org/officeDocument/2006/relationships" id="258" r:id="Re062c63d47c442ee"/>
    <p:sldId xmlns:r="http://schemas.openxmlformats.org/officeDocument/2006/relationships" id="259" r:id="R31250c15d62d4df1"/>
    <p:sldId xmlns:r="http://schemas.openxmlformats.org/officeDocument/2006/relationships" id="260" r:id="R62a9a7e586dd4eeb"/>
    <p:sldId xmlns:r="http://schemas.openxmlformats.org/officeDocument/2006/relationships" id="261" r:id="R3c5f07f543714909"/>
    <p:sldId xmlns:r="http://schemas.openxmlformats.org/officeDocument/2006/relationships" id="262" r:id="R64b92172a6ec4a7e"/>
    <p:sldId xmlns:r="http://schemas.openxmlformats.org/officeDocument/2006/relationships" id="263" r:id="R8a0761b5fed44b8a"/>
    <p:sldId xmlns:r="http://schemas.openxmlformats.org/officeDocument/2006/relationships" id="264" r:id="Ra3c6393200cb42b5"/>
    <p:sldId xmlns:r="http://schemas.openxmlformats.org/officeDocument/2006/relationships" id="265" r:id="R0113c4f881fa4310"/>
    <p:sldId xmlns:r="http://schemas.openxmlformats.org/officeDocument/2006/relationships" id="266" r:id="R786ad0cdb0c94c1c"/>
    <p:sldId xmlns:r="http://schemas.openxmlformats.org/officeDocument/2006/relationships" id="267" r:id="Rb94dbaaff9174974"/>
    <p:sldId xmlns:r="http://schemas.openxmlformats.org/officeDocument/2006/relationships" id="268" r:id="Re83e5e338ef846b1"/>
    <p:sldId xmlns:r="http://schemas.openxmlformats.org/officeDocument/2006/relationships" id="269" r:id="Rc3ce45a116f14d9b"/>
    <p:sldId xmlns:r="http://schemas.openxmlformats.org/officeDocument/2006/relationships" id="270" r:id="R8536f52c55d142f3"/>
    <p:sldId xmlns:r="http://schemas.openxmlformats.org/officeDocument/2006/relationships" id="271" r:id="R057247f6692440f1"/>
  </p:sldIdLst>
  <p:sldSz cx="12192000" cy="6858000"/>
  <p:notesSz cx="6858000" cy="9144000"/>
  <p:embeddedFontLst>
    <p:embeddedFont>
      <p:font typeface="Quattrocento Sans"/>
      <p:regular xmlns:r="http://schemas.openxmlformats.org/officeDocument/2006/relationships" r:id="R64ebc24c0eff4cbe"/>
      <p:bold xmlns:r="http://schemas.openxmlformats.org/officeDocument/2006/relationships" r:id="R213469de94e549b2"/>
      <p:italic xmlns:r="http://schemas.openxmlformats.org/officeDocument/2006/relationships" r:id="Ra993721243114544"/>
      <p:boldItalic xmlns:r="http://schemas.openxmlformats.org/officeDocument/2006/relationships" r:id="Re8ef9fdd13094b4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aa1202d6345af" /><Relationship Type="http://schemas.openxmlformats.org/officeDocument/2006/relationships/slideMaster" Target="/ppt/slideMasters/slideMaster1.xml" Id="R9fc84a3ed2854551" /><Relationship Type="http://schemas.openxmlformats.org/officeDocument/2006/relationships/notesMaster" Target="/ppt/notesMasters/notesMaster1.xml" Id="Racfce6f747f04ca2" /><Relationship Type="http://schemas.openxmlformats.org/officeDocument/2006/relationships/presProps" Target="/ppt/presProps.xml" Id="R87c695d1194546e3" /><Relationship Type="http://schemas.openxmlformats.org/officeDocument/2006/relationships/tableStyles" Target="/ppt/tableStyles.xml" Id="R8755fbb61e9c4ebd" /><Relationship Type="http://schemas.openxmlformats.org/officeDocument/2006/relationships/font" Target="/ppt/fonts/font.dat" Id="R64ebc24c0eff4cbe" /><Relationship Type="http://schemas.openxmlformats.org/officeDocument/2006/relationships/font" Target="/ppt/fonts/font2.dat" Id="R213469de94e549b2" /><Relationship Type="http://schemas.openxmlformats.org/officeDocument/2006/relationships/font" Target="/ppt/fonts/font3.dat" Id="Ra993721243114544" /><Relationship Type="http://schemas.openxmlformats.org/officeDocument/2006/relationships/font" Target="/ppt/fonts/font4.dat" Id="Re8ef9fdd13094b4f" /><Relationship Type="http://schemas.openxmlformats.org/officeDocument/2006/relationships/slide" Target="/ppt/slides/slide1.xml" Id="R45183b8c139344f3" /><Relationship Type="http://schemas.openxmlformats.org/officeDocument/2006/relationships/slide" Target="/ppt/slides/slide2.xml" Id="R4a9ccb84f1674ebe" /><Relationship Type="http://schemas.openxmlformats.org/officeDocument/2006/relationships/slide" Target="/ppt/slides/slide3.xml" Id="Re062c63d47c442ee" /><Relationship Type="http://schemas.openxmlformats.org/officeDocument/2006/relationships/slide" Target="/ppt/slides/slide4.xml" Id="R31250c15d62d4df1" /><Relationship Type="http://schemas.openxmlformats.org/officeDocument/2006/relationships/slide" Target="/ppt/slides/slide5.xml" Id="R62a9a7e586dd4eeb" /><Relationship Type="http://schemas.openxmlformats.org/officeDocument/2006/relationships/slide" Target="/ppt/slides/slide6.xml" Id="R3c5f07f543714909" /><Relationship Type="http://schemas.openxmlformats.org/officeDocument/2006/relationships/slide" Target="/ppt/slides/slide7.xml" Id="R64b92172a6ec4a7e" /><Relationship Type="http://schemas.openxmlformats.org/officeDocument/2006/relationships/slide" Target="/ppt/slides/slide8.xml" Id="R8a0761b5fed44b8a" /><Relationship Type="http://schemas.openxmlformats.org/officeDocument/2006/relationships/slide" Target="/ppt/slides/slide9.xml" Id="Ra3c6393200cb42b5" /><Relationship Type="http://schemas.openxmlformats.org/officeDocument/2006/relationships/slide" Target="/ppt/slides/slide10.xml" Id="R0113c4f881fa4310" /><Relationship Type="http://schemas.openxmlformats.org/officeDocument/2006/relationships/slide" Target="/ppt/slides/slide11.xml" Id="R786ad0cdb0c94c1c" /><Relationship Type="http://schemas.openxmlformats.org/officeDocument/2006/relationships/slide" Target="/ppt/slides/slide12.xml" Id="Rb94dbaaff9174974" /><Relationship Type="http://schemas.openxmlformats.org/officeDocument/2006/relationships/slide" Target="/ppt/slides/slide13.xml" Id="Re83e5e338ef846b1" /><Relationship Type="http://schemas.openxmlformats.org/officeDocument/2006/relationships/slide" Target="/ppt/slides/slide14.xml" Id="Rc3ce45a116f14d9b" /><Relationship Type="http://schemas.openxmlformats.org/officeDocument/2006/relationships/slide" Target="/ppt/slides/slide15.xml" Id="R8536f52c55d142f3" /><Relationship Type="http://schemas.openxmlformats.org/officeDocument/2006/relationships/slide" Target="/ppt/slides/slide16.xml" Id="R057247f6692440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cca5e39f9747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345a288c747b5" /><Relationship Type="http://schemas.openxmlformats.org/officeDocument/2006/relationships/notesMaster" Target="/ppt/notesMasters/notesMaster1.xml" Id="R6a37f27b8ef24a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9fe6e34d749ac" /><Relationship Type="http://schemas.openxmlformats.org/officeDocument/2006/relationships/notesMaster" Target="/ppt/notesMasters/notesMaster1.xml" Id="Rf716359a41314b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08a85d46b4d47" /><Relationship Type="http://schemas.openxmlformats.org/officeDocument/2006/relationships/notesMaster" Target="/ppt/notesMasters/notesMaster1.xml" Id="Rd586692f8b2b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1cfef90d56406e" /><Relationship Type="http://schemas.openxmlformats.org/officeDocument/2006/relationships/notesMaster" Target="/ppt/notesMasters/notesMaster1.xml" Id="Rb0b390699a7448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ef7619fa2b4985" /><Relationship Type="http://schemas.openxmlformats.org/officeDocument/2006/relationships/notesMaster" Target="/ppt/notesMasters/notesMaster1.xml" Id="R9a0075da9ac14f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7be039ccba421c" /><Relationship Type="http://schemas.openxmlformats.org/officeDocument/2006/relationships/notesMaster" Target="/ppt/notesMasters/notesMaster1.xml" Id="R3cd32960966b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f5fdc5e0114d27" /><Relationship Type="http://schemas.openxmlformats.org/officeDocument/2006/relationships/notesMaster" Target="/ppt/notesMasters/notesMaster1.xml" Id="Re3398608c72c42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73e2f583674062" /><Relationship Type="http://schemas.openxmlformats.org/officeDocument/2006/relationships/notesMaster" Target="/ppt/notesMasters/notesMaster1.xml" Id="R9b79d2c8f5874e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58cfcc139e4f8e" /><Relationship Type="http://schemas.openxmlformats.org/officeDocument/2006/relationships/notesMaster" Target="/ppt/notesMasters/notesMaster1.xml" Id="Radc7e8fbafff4f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75c35113cd4ced" /><Relationship Type="http://schemas.openxmlformats.org/officeDocument/2006/relationships/notesMaster" Target="/ppt/notesMasters/notesMaster1.xml" Id="Rcda7436568c142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8928cc56274be6" /><Relationship Type="http://schemas.openxmlformats.org/officeDocument/2006/relationships/notesMaster" Target="/ppt/notesMasters/notesMaster1.xml" Id="R3d40eb60907e43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02ea4e5e33485a" /><Relationship Type="http://schemas.openxmlformats.org/officeDocument/2006/relationships/notesMaster" Target="/ppt/notesMasters/notesMaster1.xml" Id="Rd8c739ae7e9a49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4bab1c0a2a433d" /><Relationship Type="http://schemas.openxmlformats.org/officeDocument/2006/relationships/notesMaster" Target="/ppt/notesMasters/notesMaster1.xml" Id="R5721db78cfe64e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ca1c10ceed4935" /><Relationship Type="http://schemas.openxmlformats.org/officeDocument/2006/relationships/notesMaster" Target="/ppt/notesMasters/notesMaster1.xml" Id="R8dd03beae9d840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3a8337e2804eec" /><Relationship Type="http://schemas.openxmlformats.org/officeDocument/2006/relationships/notesMaster" Target="/ppt/notesMasters/notesMaster1.xml" Id="R26d6ce15e84743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7c4734141746db" /><Relationship Type="http://schemas.openxmlformats.org/officeDocument/2006/relationships/notesMaster" Target="/ppt/notesMasters/notesMaster1.xml" Id="R7fd3be0f91e742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Banks already control who can log in. The harder question begins after login: is this privileged user behaving normally? FinSpark Sentinel scores the session, explains the evidence, applies the least disruptive control, and records what happened.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 valid credential does not guarantee safe behavior. FinSpark sits beside existing PAM and SIEM systems and closes the gap between authentication and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 pilot needs only session telemetry, controlled access to PAM or IAM APIs, and agreed operating boundaries. We begin in observe-only mode and validate thresholds with analysts before enforcement.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is the stack running in the prototype. The model is one component inside an API, policy, persistence, enforcement, and cryptographic control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repository is organized so judges can inspect not only the screens, but also architecture, threat assumptions, runbooks, demo data, migrations, and automated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Our advantage is not another dashboard. It is the link from detection to accountable action, plus a conservative path from observation to policy-gated enforcement.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repository is a production-shaped monorepo. The demo routes, API documentation, health endpoint, and seeded-data workflow are all available from one checkout.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immediate banking use cases are high-impact privileged sessions: databases, payment platforms, and identity systems. Pilot value is measured by analyst agreement, response reliability, and false-positive review—not by vanity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Most hackathon prototypes stop at a risk number. FinSpark implements the seams that make the number operational: idempotency, adapters, policy persistence, audit separation, and honest cryptographic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analyst stays in one evidence trail: triage, inspect baseline deviation and risk factors, choose a response, then confirm the recorded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current modular monolith is deliberate. Stateless APIs can share PostgreSQL, ingestion can move behind a queue, and model workers or enforcement adapters can scale independently when volume requires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Local mode supports fast judging. Docker activates the complete OQS path. A bank pilot adds OIDC, mTLS, KMS or HSM keys, hardened ingress, and append-only audit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We disclose boundaries clearly. The local runtime is compatibility mode; Docker activates ML-KEM and ML-DSA. The backend includes API-key authentication and protected-route role checks; the current judge run has authentication disabled by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One session produces one evidence chain: telemetry, baseline comparison, explainable risk, policy decision, PAM response, and audit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This is the working product. The seeded data shown here is the same data available through the live API: nine sessions, five flagged, and three block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FinSpark does not replace bank identity, PAM, or incident response systems. It closes the decision gap between them. Our next step is a controlled pilot using mirrored PAM and SIEM events with security-operations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ef593008543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83213251b4e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f374dbfd940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25dc8807e49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dfc8bbd8e46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4bd2f55e04e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94ee4108d43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b306f02ae42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b0cd40fba4e9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7a0c5a4b94c0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6a859e35f4b38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18">
            <a:extLst xmlns:a="http://schemas.openxmlformats.org/drawingml/2006/main">
              <a:ext uri="{FF2B5EF4-FFF2-40B4-BE49-F238E27FC236}">
                <a16:creationId xmlns:a16="http://schemas.microsoft.com/office/drawing/2014/main" id="{EC9E7AD8-F445-4702-A98A-E359FD3B36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" name="Google Shape;12;p18">
            <a:extLst xmlns:a="http://schemas.openxmlformats.org/drawingml/2006/main">
              <a:ext uri="{FF2B5EF4-FFF2-40B4-BE49-F238E27FC236}">
                <a16:creationId xmlns:a16="http://schemas.microsoft.com/office/drawing/2014/main" id="{8BEEDB36-9054-4145-BAF7-206829FAB5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3" name="Google Shape;13;p18">
            <a:extLst xmlns:a="http://schemas.openxmlformats.org/drawingml/2006/main">
              <a:ext uri="{FF2B5EF4-FFF2-40B4-BE49-F238E27FC236}">
                <a16:creationId xmlns:a16="http://schemas.microsoft.com/office/drawing/2014/main" id="{C8310E9E-8D2B-40C5-BE98-A8A99393E9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18">
            <a:extLst xmlns:a="http://schemas.openxmlformats.org/drawingml/2006/main">
              <a:ext uri="{FF2B5EF4-FFF2-40B4-BE49-F238E27FC236}">
                <a16:creationId xmlns:a16="http://schemas.microsoft.com/office/drawing/2014/main" id="{0FBE6ED9-424B-43FA-A4C1-C652B91BDE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5" name="Google Shape;15;p18">
            <a:extLst xmlns:a="http://schemas.openxmlformats.org/drawingml/2006/main">
              <a:ext uri="{FF2B5EF4-FFF2-40B4-BE49-F238E27FC236}">
                <a16:creationId xmlns:a16="http://schemas.microsoft.com/office/drawing/2014/main" id="{6BFEC755-95ED-478B-B1BA-2EDA576868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19">
            <a:extLst xmlns:a="http://schemas.openxmlformats.org/drawingml/2006/main">
              <a:ext uri="{FF2B5EF4-FFF2-40B4-BE49-F238E27FC236}">
                <a16:creationId xmlns:a16="http://schemas.microsoft.com/office/drawing/2014/main" id="{D18AC309-EB21-4198-ABCC-30BD65256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9">
            <a:extLst xmlns:a="http://schemas.openxmlformats.org/drawingml/2006/main">
              <a:ext uri="{FF2B5EF4-FFF2-40B4-BE49-F238E27FC236}">
                <a16:creationId xmlns:a16="http://schemas.microsoft.com/office/drawing/2014/main" id="{85C2996D-E955-4CD9-B913-82A134174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" name="Google Shape;19;p19">
            <a:extLst xmlns:a="http://schemas.openxmlformats.org/drawingml/2006/main">
              <a:ext uri="{FF2B5EF4-FFF2-40B4-BE49-F238E27FC236}">
                <a16:creationId xmlns:a16="http://schemas.microsoft.com/office/drawing/2014/main" id="{B285310D-F79F-435E-90E8-29636FB7D0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19">
            <a:extLst xmlns:a="http://schemas.openxmlformats.org/drawingml/2006/main">
              <a:ext uri="{FF2B5EF4-FFF2-40B4-BE49-F238E27FC236}">
                <a16:creationId xmlns:a16="http://schemas.microsoft.com/office/drawing/2014/main" id="{39AD9BE0-2403-4FDB-AB3E-7D0B6711DC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1" name="Google Shape;21;p19">
            <a:extLst xmlns:a="http://schemas.openxmlformats.org/drawingml/2006/main">
              <a:ext uri="{FF2B5EF4-FFF2-40B4-BE49-F238E27FC236}">
                <a16:creationId xmlns:a16="http://schemas.microsoft.com/office/drawing/2014/main" id="{21B4A1B9-BF10-4008-B56D-892E7EFA0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20">
            <a:extLst xmlns:a="http://schemas.openxmlformats.org/drawingml/2006/main">
              <a:ext uri="{FF2B5EF4-FFF2-40B4-BE49-F238E27FC236}">
                <a16:creationId xmlns:a16="http://schemas.microsoft.com/office/drawing/2014/main" id="{283536B5-768D-4E5E-9830-C8E21D010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20">
            <a:extLst xmlns:a="http://schemas.openxmlformats.org/drawingml/2006/main">
              <a:ext uri="{FF2B5EF4-FFF2-40B4-BE49-F238E27FC236}">
                <a16:creationId xmlns:a16="http://schemas.microsoft.com/office/drawing/2014/main" id="{B20CD739-0E72-4D6E-BD19-C00145D22C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5" name="Google Shape;25;p20">
            <a:extLst xmlns:a="http://schemas.openxmlformats.org/drawingml/2006/main">
              <a:ext uri="{FF2B5EF4-FFF2-40B4-BE49-F238E27FC236}">
                <a16:creationId xmlns:a16="http://schemas.microsoft.com/office/drawing/2014/main" id="{6900010C-13B5-4AB9-AE12-1CCF2AA2F8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20">
            <a:extLst xmlns:a="http://schemas.openxmlformats.org/drawingml/2006/main">
              <a:ext uri="{FF2B5EF4-FFF2-40B4-BE49-F238E27FC236}">
                <a16:creationId xmlns:a16="http://schemas.microsoft.com/office/drawing/2014/main" id="{4E7D2A4A-756B-4FF4-99E3-5C8F59D25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7" name="Google Shape;27;p20">
            <a:extLst xmlns:a="http://schemas.openxmlformats.org/drawingml/2006/main">
              <a:ext uri="{FF2B5EF4-FFF2-40B4-BE49-F238E27FC236}">
                <a16:creationId xmlns:a16="http://schemas.microsoft.com/office/drawing/2014/main" id="{663DE53E-1092-4C33-A450-6A3C202FA2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1">
            <a:extLst xmlns:a="http://schemas.openxmlformats.org/drawingml/2006/main">
              <a:ext uri="{FF2B5EF4-FFF2-40B4-BE49-F238E27FC236}">
                <a16:creationId xmlns:a16="http://schemas.microsoft.com/office/drawing/2014/main" id="{C2BBD4F7-355C-4553-845E-3985AE8E6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21">
            <a:extLst xmlns:a="http://schemas.openxmlformats.org/drawingml/2006/main">
              <a:ext uri="{FF2B5EF4-FFF2-40B4-BE49-F238E27FC236}">
                <a16:creationId xmlns:a16="http://schemas.microsoft.com/office/drawing/2014/main" id="{ABC01DAB-5885-4696-A5A5-1364422B8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1" name="Google Shape;31;p21">
            <a:extLst xmlns:a="http://schemas.openxmlformats.org/drawingml/2006/main">
              <a:ext uri="{FF2B5EF4-FFF2-40B4-BE49-F238E27FC236}">
                <a16:creationId xmlns:a16="http://schemas.microsoft.com/office/drawing/2014/main" id="{85B7D28C-40EC-4060-A8E6-58072C02B9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Google Shape;32;p21">
            <a:extLst xmlns:a="http://schemas.openxmlformats.org/drawingml/2006/main">
              <a:ext uri="{FF2B5EF4-FFF2-40B4-BE49-F238E27FC236}">
                <a16:creationId xmlns:a16="http://schemas.microsoft.com/office/drawing/2014/main" id="{3DF54181-FDB4-4D54-8A15-141B426CB8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21">
            <a:extLst xmlns:a="http://schemas.openxmlformats.org/drawingml/2006/main">
              <a:ext uri="{FF2B5EF4-FFF2-40B4-BE49-F238E27FC236}">
                <a16:creationId xmlns:a16="http://schemas.microsoft.com/office/drawing/2014/main" id="{0DE5260A-836B-4C43-A6F0-E108825AE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4" name="Google Shape;34;p21">
            <a:extLst xmlns:a="http://schemas.openxmlformats.org/drawingml/2006/main">
              <a:ext uri="{FF2B5EF4-FFF2-40B4-BE49-F238E27FC236}">
                <a16:creationId xmlns:a16="http://schemas.microsoft.com/office/drawing/2014/main" id="{C5BC73E8-96D3-4F7D-A959-C5D96C29E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22">
            <a:extLst xmlns:a="http://schemas.openxmlformats.org/drawingml/2006/main">
              <a:ext uri="{FF2B5EF4-FFF2-40B4-BE49-F238E27FC236}">
                <a16:creationId xmlns:a16="http://schemas.microsoft.com/office/drawing/2014/main" id="{2C1B5AC3-EBB6-4F4B-85C0-EE6620C816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7" name="Google Shape;37;p22">
            <a:extLst xmlns:a="http://schemas.openxmlformats.org/drawingml/2006/main">
              <a:ext uri="{FF2B5EF4-FFF2-40B4-BE49-F238E27FC236}">
                <a16:creationId xmlns:a16="http://schemas.microsoft.com/office/drawing/2014/main" id="{1465CB1B-25C9-4D7A-A18D-E1E5E07766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38" name="Google Shape;38;p22">
            <a:extLst xmlns:a="http://schemas.openxmlformats.org/drawingml/2006/main">
              <a:ext uri="{FF2B5EF4-FFF2-40B4-BE49-F238E27FC236}">
                <a16:creationId xmlns:a16="http://schemas.microsoft.com/office/drawing/2014/main" id="{656891D6-0B9B-4302-AA0B-A85D88D57A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9" name="Google Shape;39;p22">
            <a:extLst xmlns:a="http://schemas.openxmlformats.org/drawingml/2006/main">
              <a:ext uri="{FF2B5EF4-FFF2-40B4-BE49-F238E27FC236}">
                <a16:creationId xmlns:a16="http://schemas.microsoft.com/office/drawing/2014/main" id="{332E9E68-0F9F-40BA-9335-A1704FF563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0" name="Google Shape;40;p22">
            <a:extLst xmlns:a="http://schemas.openxmlformats.org/drawingml/2006/main">
              <a:ext uri="{FF2B5EF4-FFF2-40B4-BE49-F238E27FC236}">
                <a16:creationId xmlns:a16="http://schemas.microsoft.com/office/drawing/2014/main" id="{9F4089A5-788D-4F80-8C85-5F3EF94FA2E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1" name="Google Shape;41;p22">
            <a:extLst xmlns:a="http://schemas.openxmlformats.org/drawingml/2006/main">
              <a:ext uri="{FF2B5EF4-FFF2-40B4-BE49-F238E27FC236}">
                <a16:creationId xmlns:a16="http://schemas.microsoft.com/office/drawing/2014/main" id="{96175AA4-7C47-4F1A-8CBB-27CAF0D0D6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22">
            <a:extLst xmlns:a="http://schemas.openxmlformats.org/drawingml/2006/main">
              <a:ext uri="{FF2B5EF4-FFF2-40B4-BE49-F238E27FC236}">
                <a16:creationId xmlns:a16="http://schemas.microsoft.com/office/drawing/2014/main" id="{57A3CC5A-AB50-4039-9DD6-B971BCB4BB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3" name="Google Shape;43;p22">
            <a:extLst xmlns:a="http://schemas.openxmlformats.org/drawingml/2006/main">
              <a:ext uri="{FF2B5EF4-FFF2-40B4-BE49-F238E27FC236}">
                <a16:creationId xmlns:a16="http://schemas.microsoft.com/office/drawing/2014/main" id="{3D90BDA9-E714-4222-ADD6-568CADDF5D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23">
            <a:extLst xmlns:a="http://schemas.openxmlformats.org/drawingml/2006/main">
              <a:ext uri="{FF2B5EF4-FFF2-40B4-BE49-F238E27FC236}">
                <a16:creationId xmlns:a16="http://schemas.microsoft.com/office/drawing/2014/main" id="{CA0060D3-A3F1-4B21-B2C8-68CA3A9139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" name="Google Shape;46;p23">
            <a:extLst xmlns:a="http://schemas.openxmlformats.org/drawingml/2006/main">
              <a:ext uri="{FF2B5EF4-FFF2-40B4-BE49-F238E27FC236}">
                <a16:creationId xmlns:a16="http://schemas.microsoft.com/office/drawing/2014/main" id="{1A486B04-EDDE-4861-8BA3-84D41AE1AE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23">
            <a:extLst xmlns:a="http://schemas.openxmlformats.org/drawingml/2006/main">
              <a:ext uri="{FF2B5EF4-FFF2-40B4-BE49-F238E27FC236}">
                <a16:creationId xmlns:a16="http://schemas.microsoft.com/office/drawing/2014/main" id="{AEE93AE5-47F4-4F48-B035-1E4DF749E7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48" name="Google Shape;48;p23">
            <a:extLst xmlns:a="http://schemas.openxmlformats.org/drawingml/2006/main">
              <a:ext uri="{FF2B5EF4-FFF2-40B4-BE49-F238E27FC236}">
                <a16:creationId xmlns:a16="http://schemas.microsoft.com/office/drawing/2014/main" id="{BA299055-7803-4817-B423-1C212E9E4E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24">
            <a:extLst xmlns:a="http://schemas.openxmlformats.org/drawingml/2006/main">
              <a:ext uri="{FF2B5EF4-FFF2-40B4-BE49-F238E27FC236}">
                <a16:creationId xmlns:a16="http://schemas.microsoft.com/office/drawing/2014/main" id="{695A5AAB-926F-4D80-8580-04124DC9C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24">
            <a:extLst xmlns:a="http://schemas.openxmlformats.org/drawingml/2006/main">
              <a:ext uri="{FF2B5EF4-FFF2-40B4-BE49-F238E27FC236}">
                <a16:creationId xmlns:a16="http://schemas.microsoft.com/office/drawing/2014/main" id="{1A847158-EBC8-41E2-B01C-8169989247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2" name="Google Shape;52;p24">
            <a:extLst xmlns:a="http://schemas.openxmlformats.org/drawingml/2006/main">
              <a:ext uri="{FF2B5EF4-FFF2-40B4-BE49-F238E27FC236}">
                <a16:creationId xmlns:a16="http://schemas.microsoft.com/office/drawing/2014/main" id="{4466FEEF-E2A4-49D8-BD8C-B692E9F98C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25">
            <a:extLst xmlns:a="http://schemas.openxmlformats.org/drawingml/2006/main">
              <a:ext uri="{FF2B5EF4-FFF2-40B4-BE49-F238E27FC236}">
                <a16:creationId xmlns:a16="http://schemas.microsoft.com/office/drawing/2014/main" id="{809CCDE1-7E29-48A0-B20C-BD190E196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5" name="Google Shape;55;p25">
            <a:extLst xmlns:a="http://schemas.openxmlformats.org/drawingml/2006/main">
              <a:ext uri="{FF2B5EF4-FFF2-40B4-BE49-F238E27FC236}">
                <a16:creationId xmlns:a16="http://schemas.microsoft.com/office/drawing/2014/main" id="{B42628EF-8DF7-40D3-8F60-9429402DCE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6" name="Google Shape;56;p25">
            <a:extLst xmlns:a="http://schemas.openxmlformats.org/drawingml/2006/main">
              <a:ext uri="{FF2B5EF4-FFF2-40B4-BE49-F238E27FC236}">
                <a16:creationId xmlns:a16="http://schemas.microsoft.com/office/drawing/2014/main" id="{AED1453C-975B-405C-9E74-3C6E12D2B3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7" name="Google Shape;57;p25">
            <a:extLst xmlns:a="http://schemas.openxmlformats.org/drawingml/2006/main">
              <a:ext uri="{FF2B5EF4-FFF2-40B4-BE49-F238E27FC236}">
                <a16:creationId xmlns:a16="http://schemas.microsoft.com/office/drawing/2014/main" id="{7BC8930F-479A-424E-9DA1-3A37EB981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25">
            <a:extLst xmlns:a="http://schemas.openxmlformats.org/drawingml/2006/main">
              <a:ext uri="{FF2B5EF4-FFF2-40B4-BE49-F238E27FC236}">
                <a16:creationId xmlns:a16="http://schemas.microsoft.com/office/drawing/2014/main" id="{190B6918-DDC9-4FED-9982-D0DD700AF0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59" name="Google Shape;59;p25">
            <a:extLst xmlns:a="http://schemas.openxmlformats.org/drawingml/2006/main">
              <a:ext uri="{FF2B5EF4-FFF2-40B4-BE49-F238E27FC236}">
                <a16:creationId xmlns:a16="http://schemas.microsoft.com/office/drawing/2014/main" id="{C9C5338A-588F-4A06-B875-08AAAEEEF9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26">
            <a:extLst xmlns:a="http://schemas.openxmlformats.org/drawingml/2006/main">
              <a:ext uri="{FF2B5EF4-FFF2-40B4-BE49-F238E27FC236}">
                <a16:creationId xmlns:a16="http://schemas.microsoft.com/office/drawing/2014/main" id="{3BD8FA2F-1DE3-48FA-AD26-21EEF29E5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26">
            <a:extLst xmlns:a="http://schemas.openxmlformats.org/drawingml/2006/main">
              <a:ext uri="{FF2B5EF4-FFF2-40B4-BE49-F238E27FC236}">
                <a16:creationId xmlns:a16="http://schemas.microsoft.com/office/drawing/2014/main" id="{C53D46CF-A411-41A5-8646-8F55EA929F4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3" name="Google Shape;63;p26">
            <a:extLst xmlns:a="http://schemas.openxmlformats.org/drawingml/2006/main">
              <a:ext uri="{FF2B5EF4-FFF2-40B4-BE49-F238E27FC236}">
                <a16:creationId xmlns:a16="http://schemas.microsoft.com/office/drawing/2014/main" id="{91F1C692-3F61-4D13-871F-85EEF85BE9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4" name="Google Shape;64;p26">
            <a:extLst xmlns:a="http://schemas.openxmlformats.org/drawingml/2006/main">
              <a:ext uri="{FF2B5EF4-FFF2-40B4-BE49-F238E27FC236}">
                <a16:creationId xmlns:a16="http://schemas.microsoft.com/office/drawing/2014/main" id="{A9907FF7-527C-4124-B560-10C8C629FB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26">
            <a:extLst xmlns:a="http://schemas.openxmlformats.org/drawingml/2006/main">
              <a:ext uri="{FF2B5EF4-FFF2-40B4-BE49-F238E27FC236}">
                <a16:creationId xmlns:a16="http://schemas.microsoft.com/office/drawing/2014/main" id="{EE305A9C-388D-4C8C-B110-DA8790AA43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66" name="Google Shape;66;p26">
            <a:extLst xmlns:a="http://schemas.openxmlformats.org/drawingml/2006/main">
              <a:ext uri="{FF2B5EF4-FFF2-40B4-BE49-F238E27FC236}">
                <a16:creationId xmlns:a16="http://schemas.microsoft.com/office/drawing/2014/main" id="{6F15CB48-DE17-45D7-ACFC-7DE1BDA4CA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27">
            <a:extLst xmlns:a="http://schemas.openxmlformats.org/drawingml/2006/main">
              <a:ext uri="{FF2B5EF4-FFF2-40B4-BE49-F238E27FC236}">
                <a16:creationId xmlns:a16="http://schemas.microsoft.com/office/drawing/2014/main" id="{F8C5E9D1-B135-4367-A2F6-5CAB5C3F6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27">
            <a:extLst xmlns:a="http://schemas.openxmlformats.org/drawingml/2006/main">
              <a:ext uri="{FF2B5EF4-FFF2-40B4-BE49-F238E27FC236}">
                <a16:creationId xmlns:a16="http://schemas.microsoft.com/office/drawing/2014/main" id="{89CFFEF9-71B1-47E5-92AB-B2F6BF377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0" name="Google Shape;70;p27">
            <a:extLst xmlns:a="http://schemas.openxmlformats.org/drawingml/2006/main">
              <a:ext uri="{FF2B5EF4-FFF2-40B4-BE49-F238E27FC236}">
                <a16:creationId xmlns:a16="http://schemas.microsoft.com/office/drawing/2014/main" id="{A07F83C1-5706-4807-83A9-02A5628E45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27">
            <a:extLst xmlns:a="http://schemas.openxmlformats.org/drawingml/2006/main">
              <a:ext uri="{FF2B5EF4-FFF2-40B4-BE49-F238E27FC236}">
                <a16:creationId xmlns:a16="http://schemas.microsoft.com/office/drawing/2014/main" id="{FA14BDF9-BA59-4DA2-935A-B8E147482B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2" name="Google Shape;72;p27">
            <a:extLst xmlns:a="http://schemas.openxmlformats.org/drawingml/2006/main">
              <a:ext uri="{FF2B5EF4-FFF2-40B4-BE49-F238E27FC236}">
                <a16:creationId xmlns:a16="http://schemas.microsoft.com/office/drawing/2014/main" id="{04D8AFB4-4329-4F02-8C33-9C573EFBB2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28">
            <a:extLst xmlns:a="http://schemas.openxmlformats.org/drawingml/2006/main">
              <a:ext uri="{FF2B5EF4-FFF2-40B4-BE49-F238E27FC236}">
                <a16:creationId xmlns:a16="http://schemas.microsoft.com/office/drawing/2014/main" id="{9A362CC3-FB79-46E3-B1AA-7E7BFA40CC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5" name="Google Shape;75;p28">
            <a:extLst xmlns:a="http://schemas.openxmlformats.org/drawingml/2006/main">
              <a:ext uri="{FF2B5EF4-FFF2-40B4-BE49-F238E27FC236}">
                <a16:creationId xmlns:a16="http://schemas.microsoft.com/office/drawing/2014/main" id="{0C3D397F-8EAE-4197-A272-9FE846A1FA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6" name="Google Shape;76;p28">
            <a:extLst xmlns:a="http://schemas.openxmlformats.org/drawingml/2006/main">
              <a:ext uri="{FF2B5EF4-FFF2-40B4-BE49-F238E27FC236}">
                <a16:creationId xmlns:a16="http://schemas.microsoft.com/office/drawing/2014/main" id="{3B7F9682-1155-420E-8F20-BC1B57D585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8">
            <a:extLst xmlns:a="http://schemas.openxmlformats.org/drawingml/2006/main">
              <a:ext uri="{FF2B5EF4-FFF2-40B4-BE49-F238E27FC236}">
                <a16:creationId xmlns:a16="http://schemas.microsoft.com/office/drawing/2014/main" id="{F2BE63E3-CE09-4DC1-B6C5-42AEEAA1DC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8" name="Google Shape;78;p28">
            <a:extLst xmlns:a="http://schemas.openxmlformats.org/drawingml/2006/main">
              <a:ext uri="{FF2B5EF4-FFF2-40B4-BE49-F238E27FC236}">
                <a16:creationId xmlns:a16="http://schemas.microsoft.com/office/drawing/2014/main" id="{89624A94-E9FD-4F69-8AEE-DD813565B1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3fc90e278442f" /><Relationship Type="http://schemas.openxmlformats.org/officeDocument/2006/relationships/slideLayout" Target="/ppt/slideLayouts/slideLayout1.xml" Id="R38214cbdb5ca4a2e" /><Relationship Type="http://schemas.openxmlformats.org/officeDocument/2006/relationships/slideLayout" Target="/ppt/slideLayouts/slideLayout2.xml" Id="Rb806c9ce94d945e5" /><Relationship Type="http://schemas.openxmlformats.org/officeDocument/2006/relationships/slideLayout" Target="/ppt/slideLayouts/slideLayout3.xml" Id="R0bfc955b00f5484c" /><Relationship Type="http://schemas.openxmlformats.org/officeDocument/2006/relationships/slideLayout" Target="/ppt/slideLayouts/slideLayout4.xml" Id="Rb0de3fc880784af2" /><Relationship Type="http://schemas.openxmlformats.org/officeDocument/2006/relationships/slideLayout" Target="/ppt/slideLayouts/slideLayout5.xml" Id="R56c00122e0d54b7b" /><Relationship Type="http://schemas.openxmlformats.org/officeDocument/2006/relationships/slideLayout" Target="/ppt/slideLayouts/slideLayout6.xml" Id="Raa0a259739ca45ff" /><Relationship Type="http://schemas.openxmlformats.org/officeDocument/2006/relationships/slideLayout" Target="/ppt/slideLayouts/slideLayout7.xml" Id="R945f10e201b14882" /><Relationship Type="http://schemas.openxmlformats.org/officeDocument/2006/relationships/slideLayout" Target="/ppt/slideLayouts/slideLayout8.xml" Id="R72001e9fe2904c1f" /><Relationship Type="http://schemas.openxmlformats.org/officeDocument/2006/relationships/slideLayout" Target="/ppt/slideLayouts/slideLayout9.xml" Id="R894428d4d71b4337" /><Relationship Type="http://schemas.openxmlformats.org/officeDocument/2006/relationships/slideLayout" Target="/ppt/slideLayouts/slideLayout10.xml" Id="R55f3c60bdbf544d1" /><Relationship Type="http://schemas.openxmlformats.org/officeDocument/2006/relationships/slideLayout" Target="/ppt/slideLayouts/slideLayout11.xml" Id="Rd92c1a07f4f0482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7">
            <a:extLst xmlns:a="http://schemas.openxmlformats.org/drawingml/2006/main">
              <a:ext uri="{FF2B5EF4-FFF2-40B4-BE49-F238E27FC236}">
                <a16:creationId xmlns:a16="http://schemas.microsoft.com/office/drawing/2014/main" id="{1DB5BEFE-6108-4100-9726-5CEA7D4490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7">
            <a:extLst xmlns:a="http://schemas.openxmlformats.org/drawingml/2006/main">
              <a:ext uri="{FF2B5EF4-FFF2-40B4-BE49-F238E27FC236}">
                <a16:creationId xmlns:a16="http://schemas.microsoft.com/office/drawing/2014/main" id="{D9AFF680-325C-4DEB-8646-90CB78A46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7">
            <a:extLst xmlns:a="http://schemas.openxmlformats.org/drawingml/2006/main">
              <a:ext uri="{FF2B5EF4-FFF2-40B4-BE49-F238E27FC236}">
                <a16:creationId xmlns:a16="http://schemas.microsoft.com/office/drawing/2014/main" id="{AC1C93C7-3AC0-4B0D-B20B-D56DB56F1D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7">
            <a:extLst xmlns:a="http://schemas.openxmlformats.org/drawingml/2006/main">
              <a:ext uri="{FF2B5EF4-FFF2-40B4-BE49-F238E27FC236}">
                <a16:creationId xmlns:a16="http://schemas.microsoft.com/office/drawing/2014/main" id="{1775E1E5-570B-48F8-BEBC-297BAAA553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14cbdb5ca4a2e"/>
    <p:sldLayoutId xmlns:r="http://schemas.openxmlformats.org/officeDocument/2006/relationships" id="2147483650" r:id="Rb806c9ce94d945e5"/>
    <p:sldLayoutId xmlns:r="http://schemas.openxmlformats.org/officeDocument/2006/relationships" id="2147483651" r:id="R0bfc955b00f5484c"/>
    <p:sldLayoutId xmlns:r="http://schemas.openxmlformats.org/officeDocument/2006/relationships" id="2147483652" r:id="Rb0de3fc880784af2"/>
    <p:sldLayoutId xmlns:r="http://schemas.openxmlformats.org/officeDocument/2006/relationships" id="2147483653" r:id="R56c00122e0d54b7b"/>
    <p:sldLayoutId xmlns:r="http://schemas.openxmlformats.org/officeDocument/2006/relationships" id="2147483654" r:id="Raa0a259739ca45ff"/>
    <p:sldLayoutId xmlns:r="http://schemas.openxmlformats.org/officeDocument/2006/relationships" id="2147483655" r:id="R945f10e201b14882"/>
    <p:sldLayoutId xmlns:r="http://schemas.openxmlformats.org/officeDocument/2006/relationships" id="2147483656" r:id="R72001e9fe2904c1f"/>
    <p:sldLayoutId xmlns:r="http://schemas.openxmlformats.org/officeDocument/2006/relationships" id="2147483657" r:id="R894428d4d71b4337"/>
    <p:sldLayoutId xmlns:r="http://schemas.openxmlformats.org/officeDocument/2006/relationships" id="2147483658" r:id="R55f3c60bdbf544d1"/>
    <p:sldLayoutId xmlns:r="http://schemas.openxmlformats.org/officeDocument/2006/relationships" id="2147483659" r:id="Rd92c1a07f4f0482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13c9abb6d4237" /><Relationship Type="http://schemas.openxmlformats.org/officeDocument/2006/relationships/image" Target="/ppt/media/image.png" Id="Rff99702876a8457d" /><Relationship Type="http://schemas.openxmlformats.org/officeDocument/2006/relationships/notesSlide" Target="/ppt/notesSlides/notesSlide1.xml" Id="Ra4485968e1a448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93b6f3734f4c12" /><Relationship Type="http://schemas.openxmlformats.org/officeDocument/2006/relationships/image" Target="/ppt/media/image.png" Id="R233b0093e27544a6" /><Relationship Type="http://schemas.openxmlformats.org/officeDocument/2006/relationships/notesSlide" Target="/ppt/notesSlides/notesSlide2.xml" Id="Rf7a071c0f7f8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9976de0c44830" /><Relationship Type="http://schemas.openxmlformats.org/officeDocument/2006/relationships/image" Target="/ppt/media/image.png" Id="R41c1a31b4ad64312" /><Relationship Type="http://schemas.openxmlformats.org/officeDocument/2006/relationships/notesSlide" Target="/ppt/notesSlides/notesSlide3.xml" Id="Re72c772c666042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ce0dbb868943d3" /><Relationship Type="http://schemas.openxmlformats.org/officeDocument/2006/relationships/image" Target="/ppt/media/image.png" Id="R9237cc93c2e44740" /><Relationship Type="http://schemas.openxmlformats.org/officeDocument/2006/relationships/notesSlide" Target="/ppt/notesSlides/notesSlide4.xml" Id="R85d511147f7e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48097ac204e76" /><Relationship Type="http://schemas.openxmlformats.org/officeDocument/2006/relationships/image" Target="/ppt/media/image.png" Id="R020c09d3eb4e4612" /><Relationship Type="http://schemas.openxmlformats.org/officeDocument/2006/relationships/notesSlide" Target="/ppt/notesSlides/notesSlide5.xml" Id="R5970d7e45c224e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3058893cb4336" /><Relationship Type="http://schemas.openxmlformats.org/officeDocument/2006/relationships/image" Target="/ppt/media/image.png" Id="Readb36fc25734ee7" /><Relationship Type="http://schemas.openxmlformats.org/officeDocument/2006/relationships/notesSlide" Target="/ppt/notesSlides/notesSlide6.xml" Id="Rbe59ba2217804a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bc47fb402a4e0d" /><Relationship Type="http://schemas.openxmlformats.org/officeDocument/2006/relationships/image" Target="/ppt/media/image.png" Id="R46057d99cb11438f" /><Relationship Type="http://schemas.openxmlformats.org/officeDocument/2006/relationships/notesSlide" Target="/ppt/notesSlides/notesSlide7.xml" Id="R463d8ed1bd8d40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3e7f8eae742a2" /><Relationship Type="http://schemas.openxmlformats.org/officeDocument/2006/relationships/image" Target="/ppt/media/image.png" Id="R41f314a23f164324" /><Relationship Type="http://schemas.openxmlformats.org/officeDocument/2006/relationships/notesSlide" Target="/ppt/notesSlides/notesSlide8.xml" Id="Rdc9d1d5abb6f4e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7d2e3c27949a4" /><Relationship Type="http://schemas.openxmlformats.org/officeDocument/2006/relationships/image" Target="/ppt/media/image.png" Id="Ra19b94f22f934aea" /><Relationship Type="http://schemas.openxmlformats.org/officeDocument/2006/relationships/notesSlide" Target="/ppt/notesSlides/notesSlide9.xml" Id="R28e4b068309a4a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b07ee9fcb647b2" /><Relationship Type="http://schemas.openxmlformats.org/officeDocument/2006/relationships/image" Target="/ppt/media/image.png" Id="R266bc68dfc60484a" /><Relationship Type="http://schemas.openxmlformats.org/officeDocument/2006/relationships/image" Target="/ppt/media/image.jpeg" Id="Rcd5a101775b24cfa" /><Relationship Type="http://schemas.openxmlformats.org/officeDocument/2006/relationships/notesSlide" Target="/ppt/notesSlides/notesSlide10.xml" Id="R6371d0f72f2540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acddfe192d4ec9" /><Relationship Type="http://schemas.openxmlformats.org/officeDocument/2006/relationships/image" Target="/ppt/media/image.png" Id="R598ef60f98f047db" /><Relationship Type="http://schemas.openxmlformats.org/officeDocument/2006/relationships/notesSlide" Target="/ppt/notesSlides/notesSlide11.xml" Id="R6369105285d941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d26daabaa248c7" /><Relationship Type="http://schemas.openxmlformats.org/officeDocument/2006/relationships/image" Target="/ppt/media/image.png" Id="R36dcfa7c47dd4c54" /><Relationship Type="http://schemas.openxmlformats.org/officeDocument/2006/relationships/notesSlide" Target="/ppt/notesSlides/notesSlide12.xml" Id="R6c81bad10a874c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d51f724e6843ea" /><Relationship Type="http://schemas.openxmlformats.org/officeDocument/2006/relationships/image" Target="/ppt/media/image.png" Id="R206c7f7526af4a71" /><Relationship Type="http://schemas.openxmlformats.org/officeDocument/2006/relationships/image" Target="/ppt/media/image2.jpeg" Id="R57833a0d8f894f5a" /><Relationship Type="http://schemas.openxmlformats.org/officeDocument/2006/relationships/notesSlide" Target="/ppt/notesSlides/notesSlide13.xml" Id="R48e3ec4a5b5e45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0a6b40544a4b48" /><Relationship Type="http://schemas.openxmlformats.org/officeDocument/2006/relationships/image" Target="/ppt/media/image.png" Id="R6e13473bf6e74e7c" /><Relationship Type="http://schemas.openxmlformats.org/officeDocument/2006/relationships/notesSlide" Target="/ppt/notesSlides/notesSlide14.xml" Id="R65d477b52d8741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29bca032654075" /><Relationship Type="http://schemas.openxmlformats.org/officeDocument/2006/relationships/image" Target="/ppt/media/image.png" Id="R37611b00681e4f07" /><Relationship Type="http://schemas.openxmlformats.org/officeDocument/2006/relationships/image" Target="/ppt/media/image3.jpeg" Id="R47afa312c68143c1" /><Relationship Type="http://schemas.openxmlformats.org/officeDocument/2006/relationships/image" Target="/ppt/media/image4.jpeg" Id="Rff403b4be4d64fb9" /><Relationship Type="http://schemas.openxmlformats.org/officeDocument/2006/relationships/notesSlide" Target="/ppt/notesSlides/notesSlide15.xml" Id="Rb0a5c73829f241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4aa7b1742d43ea" /><Relationship Type="http://schemas.openxmlformats.org/officeDocument/2006/relationships/image" Target="/ppt/media/image.png" Id="Rb4726ee3675c41ea" /><Relationship Type="http://schemas.openxmlformats.org/officeDocument/2006/relationships/notesSlide" Target="/ppt/notesSlides/notesSlide16.xml" Id="R543d382c8ad846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1">
            <a:extLst xmlns:a="http://schemas.openxmlformats.org/drawingml/2006/main">
              <a:ext uri="{FF2B5EF4-FFF2-40B4-BE49-F238E27FC236}">
                <a16:creationId xmlns:a16="http://schemas.microsoft.com/office/drawing/2014/main" id="{D2741B88-3846-4B01-9315-50F1E22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675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3675" b="1" i="0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FinSpark</a:t>
            </a:r>
          </a:p>
          <a:p xmlns:a="http://schemas.openxmlformats.org/drawingml/2006/main"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675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3675" b="1" i="0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Sentinel</a:t>
            </a:r>
          </a:p>
        </p:txBody>
      </p:sp>
      <p:sp>
        <p:nvSpPr>
          <p:cNvPr id="84" name="Google Shape;84;p1">
            <a:extLst xmlns:a="http://schemas.openxmlformats.org/drawingml/2006/main">
              <a:ext uri="{FF2B5EF4-FFF2-40B4-BE49-F238E27FC236}">
                <a16:creationId xmlns:a16="http://schemas.microsoft.com/office/drawing/2014/main" id="{3D8DD577-BF6F-49D7-9B61-4CB178E6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953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38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88" b="0" i="0" u="none" cap="none">
                <a:solidFill>
                  <a:srgbClr val="344054"/>
                </a:solidFill>
                <a:latin typeface="Arial"/>
                <a:ea typeface="Arial"/>
                <a:cs typeface="Arial"/>
              </a:rPr>
              <a:t>Privileged access risk, explained and acted on.</a:t>
            </a:r>
          </a:p>
          <a:p xmlns:a="http://schemas.openxmlformats.org/drawingml/2006/main">
            <a: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38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88" b="0" i="0" u="none" cap="none">
                <a:solidFill>
                  <a:srgbClr val="344054"/>
                </a:solidFill>
                <a:latin typeface="Arial"/>
                <a:ea typeface="Arial"/>
                <a:cs typeface="Arial"/>
              </a:rPr>
              <a:t>Team xdcoderz</a:t>
            </a:r>
          </a:p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38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Adittya Sharma · Team Lead</a:t>
            </a:r>
          </a:p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38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88" b="0" i="0" u="none" cap="none">
                <a:solidFill>
                  <a:srgbClr val="344054"/>
                </a:solidFill>
                <a:latin typeface="Arial"/>
                <a:ea typeface="Arial"/>
                <a:cs typeface="Arial"/>
              </a:rPr>
              <a:t>Devyanshu Agrawal · Team Member</a:t>
            </a:r>
          </a:p>
        </p:txBody>
      </p:sp>
      <p:pic>
        <p:nvPicPr>
          <p:cNvPr id="123" name="Google Shape;85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99702876a845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3F69AD-9B57-4A36-A181-767A49AB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057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FF7D6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AE1CE0-2DAE-4C2B-B832-55DA257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FINSPARK HACKATHON 2026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E080C9-800F-4331-92E8-C37ABD4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76300"/>
            <a:ext cx="581025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E3E1C44-86E2-423A-8061-96FDAD6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01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ONE SESSION. ONE EVIDENCE CHAIN.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22F91C1-01DC-450E-A18B-B241E2C7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4819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 unusual behavior before a valid login becomes an incident.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8AD9D68-1958-4146-AB23-7C2BC9CA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9525">
            <a:solidFill>
              <a:srgbClr val="2846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1003BEB-18FE-460B-AB4B-9A4DB7C3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146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78C6F8D-84FD-43F4-8647-A928E010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813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41C52D-5608-474B-94F4-8146755C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14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Session telemetry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D65F1F4-04D6-4886-BDA5-994D08EC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9525">
            <a:solidFill>
              <a:srgbClr val="284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C30BE5-CE94-4276-AB09-A92835C1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146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74631C-3998-4D4C-A126-588F13B7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9813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E39B153-CB80-465E-95B7-1FCC8157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14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Factor evidence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7C216C9-0F40-4DC0-A42C-9D265C9D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617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61B84D-2A35-4F65-A32C-A8CB3CFD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146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D34D7EB-E7B3-4C55-B8ED-52AB447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813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921B32-6136-4C5A-84E7-51CD2DA3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Allow · step-up · block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9272AD8-9790-45CB-B91A-E40146C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104900" cy="11239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A4C"/>
          </a:solidFill>
          <a:ln xmlns:a="http://schemas.openxmlformats.org/drawingml/2006/main" w="9525">
            <a:solidFill>
              <a:srgbClr val="28466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E69EFE-847F-4772-8785-1517CD69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146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1898CEF-1D72-43FA-B132-78A4B68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98132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CFD640E-2B16-4982-A7AA-30B26048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14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Decision + outcome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286DC02-3639-49A8-9D5F-B5718CC3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11F2C4-725B-4627-B657-6A00B8DD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386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SEEDED SESSIONS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EF3F42-3A82-4DDB-9292-AA235336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A5E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A5E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05D6FA9-FFBB-4E3C-B776-1537686E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387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live API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2D1A7B7-F7A0-48F9-BCAF-C27538AB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14F3430-F340-4C25-AED1-CF133F79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FLAGGED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DEF93FC-1799-4088-8AB1-15ECCCE3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B6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B61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CE08F58-E28D-49D1-994F-18365A4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387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analyst review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B0F0566-344B-4710-9805-C61B563C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0705882-4C32-4ACE-806F-1D532B55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3862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3413F89-6586-4A30-88BF-AA1A71EF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386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3B50FCB-893F-4C99-993B-33774BFC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387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policy outcomes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1704AA4-FADE-4D88-83DB-6FFA39E6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619375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EBA05DA-C90E-4712-81FC-2CEA7D8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79455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079455"/>
                </a:solidFill>
                <a:latin typeface="Arial"/>
                <a:ea typeface="Arial"/>
                <a:cs typeface="Arial"/>
              </a:rPr>
              <a:t>Working prototype · sandbox PAM</a:t>
            </a:r>
          </a:p>
        </p:txBody>
      </p:sp>
    </p:spTree>
    <p:extLst>
      <p:ext uri="{BB962C8B-B14F-4D97-AF65-F5344CB8AC3E}">
        <p14:creationId xmlns:p14="http://schemas.microsoft.com/office/powerpoint/2010/main" val="16534804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2">
            <a:extLst xmlns:a="http://schemas.openxmlformats.org/drawingml/2006/main">
              <a:ext uri="{FF2B5EF4-FFF2-40B4-BE49-F238E27FC236}">
                <a16:creationId xmlns:a16="http://schemas.microsoft.com/office/drawing/2014/main" id="{6D6D2E51-CE68-4971-9E93-C68FAF3D2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Problem Statement</a:t>
            </a:r>
          </a:p>
        </p:txBody>
      </p:sp>
      <p:sp>
        <p:nvSpPr>
          <p:cNvPr id="91" name="Google Shape;91;p2">
            <a:extLst xmlns:a="http://schemas.openxmlformats.org/drawingml/2006/main">
              <a:ext uri="{FF2B5EF4-FFF2-40B4-BE49-F238E27FC236}">
                <a16:creationId xmlns:a16="http://schemas.microsoft.com/office/drawing/2014/main" id="{D5810FB8-82AE-4D97-942A-74DB848F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 i="0" u="none" cap="none">
                <a:solidFill>
                  <a:srgbClr val="344054"/>
                </a:solidFill>
                <a:latin typeface="Arial"/>
                <a:ea typeface="Arial"/>
                <a:cs typeface="Arial"/>
              </a:rPr>
              <a:t>A valid privileged login can still become a high-impact incident after authentication.</a:t>
            </a:r>
          </a:p>
        </p:txBody>
      </p:sp>
      <p:pic>
        <p:nvPicPr>
          <p:cNvPr id="129" name="Google Shape;92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3b0093e27544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EF43B2-1C5F-4DE9-8AE8-9AF6F719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F5F260E-0A0B-48E5-9F59-35D1E9E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3D5851-D0E3-4C27-91E3-AE86FA2A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8BB3F1-AA44-4243-A7B8-EB25CF6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179DD8-CF34-4796-800C-BAD4F155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098C0C1-E8F5-417D-97FB-54A48BCD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571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B7E2D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BD35BF2-FE56-4320-B856-E64E612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9525">
            <a:solidFill>
              <a:srgbClr val="07945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876277-222E-43F3-B451-08C90AF5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7945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9455"/>
                </a:solidFill>
                <a:latin typeface="Arial"/>
                <a:ea typeface="Arial"/>
                <a:cs typeface="Arial"/>
              </a:rPr>
              <a:t>IDENTITY CONTROL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8B5D2A6-3BB1-4939-8F5D-2DB892AA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PAM / IAM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31C2C30-D455-49CF-906D-4C05D01D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171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Confirms who entered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Issues a valid privileged session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Cannot judge every action in context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CA6F5B-8E03-45CE-9471-E15CE08F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B5DF36B-7F3D-4F9E-8099-9E824768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6900"/>
            <a:ext cx="33528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6D98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0A6A02-EE8A-4DB3-A777-8ECF44DE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690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61F"/>
          </a:solidFill>
          <a:ln xmlns:a="http://schemas.openxmlformats.org/drawingml/2006/main" w="9525">
            <a:solidFill>
              <a:srgbClr val="F3B61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85F4021-EFCE-4D33-8356-AB632EB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3B61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B61F"/>
                </a:solidFill>
                <a:latin typeface="Arial"/>
                <a:ea typeface="Arial"/>
                <a:cs typeface="Arial"/>
              </a:rPr>
              <a:t>INSIDE THE SESSION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3B264F-8F18-42C6-9890-59876B65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955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Behavior changes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0DC13DF-FFE3-47C7-AD67-0F4FB59D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Unknown source · unfamiliar device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Credential access · audit disable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Privilege escalation · data staging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6D5EDA-4719-44C2-90A2-25B075B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38C99DB-9D94-4960-ABE7-01391EA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2571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9525">
            <a:solidFill>
              <a:srgbClr val="F6B8B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4F69CB-8126-4A08-A804-2FC24ADD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AAD3830-B750-4A0F-95AE-326B22D9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BUSINESS IMPACT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1982C16-6A89-458B-9505-4316F070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955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Too late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A168CA-77D3-4211-A950-E2DE024A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1717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Payment disruption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Sensitive-data exposure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Slower investigation and response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3B1BCE-5EC2-4050-BF7E-21D64F69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248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87D7BF6-A5E5-441F-8578-2C361EEB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577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FinSpark closes the gap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D84506-53A1-4AD6-B064-7F391B36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7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F9073E3-00A8-4920-A3AC-172752A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667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9CAB07-D84F-4A00-BBE7-989A16C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11F184C-EF2C-40CA-B9D5-BAE5A80E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67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D3F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DD3FC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ED4C6E0-08D6-40AA-9FDB-E51362B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508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7A"/>
          </a:solidFill>
          <a:ln xmlns:a="http://schemas.openxmlformats.org/drawingml/2006/main" w="9525">
            <a:solidFill>
              <a:srgbClr val="33577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354B34E-4C6A-4B72-84C3-7C99ADBF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7F8E1BF-D470-467E-857D-DA85448B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6BED8A8-D3FB-4FF0-ABC3-7F8F814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749461C-9966-43C6-BBE2-AE307073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5EC"/>
          </a:solidFill>
          <a:ln xmlns:a="http://schemas.openxmlformats.org/drawingml/2006/main" w="0">
            <a:solidFill>
              <a:srgbClr val="0BA5E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F8ED7B2-8643-4D0B-89E4-90483701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Works beside the bank's existing PAM and SIEM; it does not replace them.</a:t>
            </a:r>
          </a:p>
        </p:txBody>
      </p:sp>
    </p:spTree>
    <p:extLst>
      <p:ext uri="{BB962C8B-B14F-4D97-AF65-F5344CB8AC3E}">
        <p14:creationId xmlns:p14="http://schemas.microsoft.com/office/powerpoint/2010/main" val="19768007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3">
            <a:extLst xmlns:a="http://schemas.openxmlformats.org/drawingml/2006/main">
              <a:ext uri="{FF2B5EF4-FFF2-40B4-BE49-F238E27FC236}">
                <a16:creationId xmlns:a16="http://schemas.microsoft.com/office/drawing/2014/main" id="{02FA6598-1DB7-4AF7-BC65-FB1800DD1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Pre-Requisites</a:t>
            </a:r>
          </a:p>
        </p:txBody>
      </p:sp>
      <p:pic>
        <p:nvPicPr>
          <p:cNvPr id="131" name="Google Shape;9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c1a31b4ad643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3">
            <a:extLst xmlns:a="http://schemas.openxmlformats.org/drawingml/2006/main">
              <a:ext uri="{FF2B5EF4-FFF2-40B4-BE49-F238E27FC236}">
                <a16:creationId xmlns:a16="http://schemas.microsoft.com/office/drawing/2014/main" id="{E2C74C03-20B4-4668-AAC3-77A9967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 bank pilot starts with mirrored events and controlled integrations—not a rip-and-replace program.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BE83B54-32DE-4746-91E7-09183507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06C1C31-C0F7-4566-B745-E7F950CB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PILOT INPUTS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3BE22ED-2DED-44F8-88B3-7521AAB6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ACAEEE3-4788-4CEB-858D-AC8707DB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AC65BF-63C0-490C-8200-21F1E83A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PILOT INPUTS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45F8F27-BD16-494C-B56B-5A4AD87E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1623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A56F7AE-EB7F-4491-894C-E1DCD218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0857923-FF17-4B6E-BD63-64AB76F7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01 · SIGNALS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4A1D7EE-27B2-4AFB-9DBE-CEC3133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Session telemetry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34A53F2-EC9F-4112-B936-3D88EB55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Logon and logoff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Commands and file activity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Source IP and device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Role, resource and privilege changes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C2A37CE-BA64-432E-909E-2EC0F29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31623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C53029C-8130-4A0C-B0EC-314D008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52625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9252939-80EC-4C96-9DAB-2485D041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240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02 · ACCESS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5A4D947-B0CA-41AB-AAB7-698C4D3F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Controlled connectors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C4447C6-B133-428B-B5A5-48AB9E0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47975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 access to PAM / SIEM events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Sandbox or test enforcement endpoint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Identity and asset context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Approved data-retention boundary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60C0E35-8DE3-4FF5-89A5-92439EBA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31623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B4270C7-E6D6-4E2E-8D89-CFF37117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52625"/>
            <a:ext cx="4762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1AC7F1D-9B2A-4770-A494-167595C6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24075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03 · OPERATING MODEL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1B557C9-2048-41A8-AF18-79D3C6E3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Human accountability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8421567-19AB-449D-8D6A-8B9A9619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47975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Named SOC and IAM reviewers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Threshold review cadence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Incident and rollback path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Observe-only entry phase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E29DF94-1C93-4640-B707-608676E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944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C57F22-FFA9-4124-A904-E643AE07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F23ADE3-6557-4ABD-8C16-913BD08E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Synthetic data ready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C36C074-FEFD-49AB-AE21-CB702DF3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7B54377-1792-40F8-BC7B-8F7DF0AF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Seed command included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D094045-0B84-458F-B55F-095420D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8E0907F-B368-45DA-9628-A962C68D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roles configured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FE176A0-191F-4494-A0E5-77A8BE8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6B467C5-65E7-4205-8685-42EEEBAF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72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PQC status disclosed</a:t>
            </a:r>
          </a:p>
        </p:txBody>
      </p:sp>
    </p:spTree>
    <p:extLst>
      <p:ext uri="{BB962C8B-B14F-4D97-AF65-F5344CB8AC3E}">
        <p14:creationId xmlns:p14="http://schemas.microsoft.com/office/powerpoint/2010/main" val="16161592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4">
            <a:extLst xmlns:a="http://schemas.openxmlformats.org/drawingml/2006/main">
              <a:ext uri="{FF2B5EF4-FFF2-40B4-BE49-F238E27FC236}">
                <a16:creationId xmlns:a16="http://schemas.microsoft.com/office/drawing/2014/main" id="{423B1C00-3283-48D4-B417-0A91B172E6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Tools and Resources</a:t>
            </a:r>
          </a:p>
        </p:txBody>
      </p:sp>
      <p:pic>
        <p:nvPicPr>
          <p:cNvPr id="136" name="Google Shape;105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37cc93c2e447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" name="Google Shape;106;p4">
            <a:extLst xmlns:a="http://schemas.openxmlformats.org/drawingml/2006/main">
              <a:ext uri="{FF2B5EF4-FFF2-40B4-BE49-F238E27FC236}">
                <a16:creationId xmlns:a16="http://schemas.microsoft.com/office/drawing/2014/main" id="{7C31C6AD-48F4-46DB-8D2A-3CA889F3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Every layer shown below is used by the working prototype or its reproducible Docker path.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2BEC7B-A241-4411-BEF2-436C15B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E5AC600-6140-4A5E-984B-1536D7B9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IMPLEMENTED STACK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7C7A508-1D3E-46B6-B80E-FFC01762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A8022C4-3AF4-4843-A36C-790E36E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4B8FC2-E853-4292-919B-47987C3A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IMPLEMENTED STACK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4E2ED30-8562-44A3-9C79-929DB321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962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0C70CD-3938-46C1-ADFD-ED9D03D6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0272EAA-A1DD-4937-8B7A-FD9EB746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Analyst console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6E7FCB6-CF7E-4F6A-8A97-CE10AA2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43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React · TypeScript · Vite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75AF94F-38C7-43E9-BFA7-EA9B1B03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962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B14DF21-675F-4787-B3EB-F57E0D68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DC8BC08-5978-4033-8062-01773BEB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95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 API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86348BB-6C4A-4ACB-BC58-EBEBDE7A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FastAPI · Pydantic · role-checked routes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1737144-42F5-4683-9928-A0CA92C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62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EFC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F3D343-6961-4BF7-AF99-61752EE0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0425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F40959-FB95-4A8A-8DB1-CFDA9884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engine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AD67E8D-DBAA-45AE-80AC-A4AFDB60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Isolation Forest · weighted context · deterministic rules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C073A2D-FCEE-4D51-9B4E-CB7BB340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962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3B61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3DF2B0-FA32-4DD6-88B6-02252FE0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3B61F"/>
          </a:solidFill>
          <a:ln xmlns:a="http://schemas.openxmlformats.org/drawingml/2006/main" w="9525">
            <a:solidFill>
              <a:srgbClr val="F3B61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63603F8-1A8A-4D77-8F8E-FA6B1D1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433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and policy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13B1708-E356-45FD-B187-D4035EF2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148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SQLAlchemy · Alembic · SQLite local / PostgreSQL path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FFF1096-50CA-4CEC-8924-E1DD6251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9620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8EBB34C-F5F5-49D2-B0F4-DF3B61D9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48225"/>
            <a:ext cx="1809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49A94BE-8A9C-4B19-A6BA-50CC21F8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 and crypto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6F55F31-3EAB-4F4E-80CF-6EA351CE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387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Signed PAM adapter · liboqs · ML-KEM / ML-DSA in Docker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A03C514-743E-4EB2-8DDA-9C13BFF6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Research foundation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0623485-F1BE-4353-8ABF-1456D89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4355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CERT-style insider-threat scenarios inform feature design; judge data is a transparent nine-session banking seed set.</a:t>
            </a:r>
          </a:p>
        </p:txBody>
      </p:sp>
    </p:spTree>
    <p:extLst>
      <p:ext uri="{BB962C8B-B14F-4D97-AF65-F5344CB8AC3E}">
        <p14:creationId xmlns:p14="http://schemas.microsoft.com/office/powerpoint/2010/main" val="12488485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Google Shape;111;p5">
            <a:extLst xmlns:a="http://schemas.openxmlformats.org/drawingml/2006/main">
              <a:ext uri="{FF2B5EF4-FFF2-40B4-BE49-F238E27FC236}">
                <a16:creationId xmlns:a16="http://schemas.microsoft.com/office/drawing/2014/main" id="{EF37B740-432A-4090-AD33-6441479641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Supporting Functional Documents</a:t>
            </a:r>
          </a:p>
        </p:txBody>
      </p:sp>
      <p:pic>
        <p:nvPicPr>
          <p:cNvPr id="146" name="Google Shape;112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0c09d3eb4e46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5">
            <a:extLst xmlns:a="http://schemas.openxmlformats.org/drawingml/2006/main">
              <a:ext uri="{FF2B5EF4-FFF2-40B4-BE49-F238E27FC236}">
                <a16:creationId xmlns:a16="http://schemas.microsoft.com/office/drawing/2014/main" id="{7E83B26D-1C3F-4CA5-B4D5-FD1D6531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The repository explains how the system behaves, fails, deploys, and demonstrates its evidence.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61B3E9-84DD-489E-99BC-40224C97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B64676-4BC9-4AEB-8173-F1AB11CD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EVIDENCE PACK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914783-D94A-4029-A68B-80108FA9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04EEC9F-3B35-4493-A9E0-707B9B0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5693E4B-998D-480D-B97A-445A9A25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EVIDENCE PACK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FDFD6DF-92A2-438B-B771-8F2D73A0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B5DA3BF-0178-4145-84B2-013FF049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DABA3D5-8971-4DF5-B243-24431D0D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REPOSITORY DOCUMENT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E1D1C14-6127-4588-8340-CC0F6F5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architecture.md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87507A5-8C67-42E2-9B1B-452193B2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436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Boundaries, event flow, adapters and scale path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D4864B1-8D49-4417-9B34-197FAAD6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4762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3CBEB64-44E4-4119-B43D-95F7F28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3EBC1E6-7DCE-48DB-8237-180F8CAE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REPOSITORY DOCUMENT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3D33C2F-2FDA-40C1-81A1-FBB80FD0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14575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threat-model.md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AC43F5C-AA0D-4B11-B426-3EA4256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76525"/>
            <a:ext cx="436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Assets, trust boundaries, attack paths and mitigations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DD6DF92-2262-4C2D-8577-616A0924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762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9F74352-FB12-47B2-A2DF-B8501AAE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102360B-EB7E-4528-B5A9-79FA3680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REPOSITORY DOCUMENT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C1817A1-159C-4112-8A5D-82546027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operations.md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2284B8E-36B2-42D6-B9D0-6C9ACAB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436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Readiness, observability, rollback and runbooks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FF8C3BA-624A-4AA3-91AC-C582075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4762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7EFFF8B-4ED4-4B68-BBBD-227067B1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09950"/>
            <a:ext cx="47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CDD80C5-C0EC-4AE2-8720-75AD3221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81400"/>
            <a:ext cx="436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REPOSITORY DOCUMENT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B236E92-0CDF-4218-A17A-0AC4D59B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demo-data.md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40F43BF-A055-4EC4-B4A5-D479053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00525"/>
            <a:ext cx="436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Nine curated sessions and reproducible seed workflow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10600BA-7348-4783-8010-7A571FA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FAAE33C-0E45-4EDF-9F2D-A89F103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beyond slides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46EA8FC-DEDC-4634-A5FA-070CBD3A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339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Unit + integration + seed tests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292B758-2021-4579-9A03-A8CB9F6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339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Migrations and API contracts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4841F2A-CCAE-4AA4-A1FD-B3FA2D75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339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CSV / printable audit export</a:t>
            </a:r>
          </a:p>
        </p:txBody>
      </p:sp>
    </p:spTree>
    <p:extLst>
      <p:ext uri="{BB962C8B-B14F-4D97-AF65-F5344CB8AC3E}">
        <p14:creationId xmlns:p14="http://schemas.microsoft.com/office/powerpoint/2010/main" val="16509840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6638B70D-0BF1-4540-A7D2-D015DBCF3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Key Differentiators and Adoption Plan</a:t>
            </a:r>
          </a:p>
        </p:txBody>
      </p:sp>
      <p:pic>
        <p:nvPicPr>
          <p:cNvPr id="164" name="Google Shape;119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db36fc25734e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FE4B609C-2D5C-4DAD-B9C0-6931B857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The product earns trust by connecting risk evidence to a controlled response path.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1841585-909A-48A8-B7A4-D66B5B42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7BB6903-220E-4659-B2F1-19D7CAF5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WHY FINSPARK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4FEB5B6-1B12-43F7-9DF2-4B6E0953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9DB7DCF-2B1C-4269-986E-F8C4E19F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8132729-EA57-4B9A-BF9C-046C9A4A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WHY FINSPARK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B31B994-C5E8-4E83-A504-DBC3B79B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9D8EE22-3433-4E7A-9F9C-3B77A1B6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515FC6D-0194-4A15-B845-3A67BE5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Explainable risk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4E7E342-D81E-4743-8508-6903B7AE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Five factor groups, not a mystery score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269EEE1-4EA3-4CD3-ACE7-F287A092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4FE305-09B2-4E99-BED0-1B12299B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4E49219-E531-43FA-8DEE-87CF76C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Replay-safe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67B8232-51AA-4CAF-B630-86CF84BC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Duplicate event IDs return the original decision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F3B8EBD-9F14-44E8-9B8B-594DAD34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66900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AA3AEDF-180F-4E5E-B14B-62551E25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4FB661D-22BC-4A1E-AD82-C0D703F7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50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Real response path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571C87F-FA69-4F0E-96FA-959C1A4D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Adapter outcome and reference are persisted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611E753-9B05-41BA-A29D-E21CB13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343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048D16-7CC7-470E-AE9B-7F691976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6941C6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4EAD899-8556-4520-9CA7-7BD1629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Honest PQC status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28C8929-8B52-4C62-B2ED-E5B5F51A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OQS in Docker; compatibility mode labelled locally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6F8DE42-101A-42AF-9477-7A17000B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Controlled adoption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B09293C-9F57-4D2C-BE0A-D818FF59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30670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BD52101-013B-41B1-B62F-3A3045ED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B94731A-F1E7-4E47-A98E-C53B6A9E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1A18F82-CFCB-49EF-9B58-9BED952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4516625-AFE5-4A3E-8377-F120EA4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86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Replay mirrored PAM / SIEM events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6813A76-8F1F-49BA-8F78-073A8D0D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71900"/>
            <a:ext cx="30670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034FA98-7058-427A-93DC-8702E15B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43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B243052-FABE-40A6-B379-4FB509DD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9528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78960BE-DF1B-4D0C-85A9-E67A6D59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2430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1EB4E40-6448-4379-A5EC-CA67CCA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386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Compare decisions with analyst judgment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44EAC8C-9324-4A17-9CFA-591F3628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13BDB7C-50AD-4D23-B48E-C7B974FA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43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A82B0FC-60D5-4710-A630-AB50459E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528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46A7BCD-E9B9-4E77-80A8-B33151B3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Enforce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9C39679-58C1-44B8-A0C9-C3C0A1B4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Enable policy-gated adapter actions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FBFA683-D2C6-410B-97FE-AFAF0AB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243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AD5963E-82D7-454C-82DB-732C44C3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243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68E8133-14E3-411E-9582-4A183665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29200"/>
            <a:ext cx="2952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0D8C6DF-5A26-4154-9F36-BF5FC8CD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48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narrow · measure · expand</a:t>
            </a:r>
          </a:p>
        </p:txBody>
      </p:sp>
    </p:spTree>
    <p:extLst>
      <p:ext uri="{BB962C8B-B14F-4D97-AF65-F5344CB8AC3E}">
        <p14:creationId xmlns:p14="http://schemas.microsoft.com/office/powerpoint/2010/main" val="12652039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857D56E-FFE5-437F-BB32-0C6C05CE1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Repository, Diagrams and Run Routes</a:t>
            </a:r>
          </a:p>
        </p:txBody>
      </p:sp>
      <p:pic>
        <p:nvPicPr>
          <p:cNvPr id="161" name="Google Shape;12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057d99cb1143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0BDD9D1-2C8B-494F-876B-283028FD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One monorepo contains the API, analyst console, infrastructure, documents, and demo tooling.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B7BA7D9-2090-41CA-848D-1A8FD0E7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1C0C6EB-426A-4E93-91CE-326F7C05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INSPECT THE BUILD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0E846D1-8BA9-4D22-B293-24F49F90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52933A8-04B7-45F2-B066-C780A391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BA26454-6A64-49DA-AD02-542058F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INSPECT THE BUILD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09977E8-4587-4361-8EA8-28E5049F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667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2D63AAB-654C-483A-A449-3C1A842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github.com/xdcoderz/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finspark-sentinel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4CF1E3D-5AD6-483D-BB79-8FA48C92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7A"/>
          </a:solidFill>
          <a:ln xmlns:a="http://schemas.openxmlformats.org/drawingml/2006/main" w="9525">
            <a:solidFill>
              <a:srgbClr val="33577A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E29A61F-9275-42E5-9C24-4EBD3A40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D3F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7DD3FC"/>
                </a:solidFill>
                <a:latin typeface="Courier New"/>
                <a:ea typeface="Courier New"/>
                <a:cs typeface="Courier New"/>
              </a:rPr>
              <a:t>apps/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A54E57A-ABA4-4320-8747-5CD9C36E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rPr>
              <a:t>  api/     FastAPI + risk engine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5DBDA5A-8708-4D56-8FA9-5E41C0D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rPr>
              <a:t>  web/     React analyst console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38E601D-06FF-435F-8E9F-6F75017D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rPr>
              <a:t>docs/      architecture + operations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E8687EA-9B12-41E2-9C21-196B6607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rPr>
              <a:t>infra/     Docker images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ABCD240-FC40-4D2F-B976-F82D8DED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3790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D0DEED"/>
                </a:solidFill>
                <a:latin typeface="Courier New"/>
                <a:ea typeface="Courier New"/>
                <a:cs typeface="Courier New"/>
              </a:rPr>
              <a:t>scripts/   deterministic demo seed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772B89A-86F0-4D32-BE2B-5BCD01EE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47850"/>
            <a:ext cx="4953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583C8FB-F57B-4F45-AC89-8E79FC95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478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3214BF5-3C45-4329-9ED2-5E5CB73B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19300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LIVE CONSOLE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59E3356-44BE-490B-AE72-F72188B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764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http://localhost:5173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17B1F84-ECF9-45D7-B0C2-CB538808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62225"/>
            <a:ext cx="4552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2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Mocked Bank sign-in · role-aware workspace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DA26E85-AF5C-410D-9847-76775F96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4953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D72C0F8-AD15-4754-B3CE-8941D27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C2F2EB8-B85B-45F2-89CC-8B4F3309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API CONTRACT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10BF7D1-EFE7-44B0-8C0F-F2BAB59B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3852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http://localhost:8000/docs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5FF1DF9-C2A4-4A92-8582-CD36712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24275"/>
            <a:ext cx="4552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2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Assessment, policy, audit, vault and operations routes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8DE132C-2769-466F-A770-96489305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4953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E6FAEEC-2BBA-4C22-AF2E-567361A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71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93B8D8F-29CA-4CE3-827C-665DCFC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43400"/>
            <a:ext cx="455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4F22B9E-91C6-4C28-B41D-023558E7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0057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/api/v1/health/ready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F6C3B1C-5F0B-47B5-90D4-7AFE881D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86325"/>
            <a:ext cx="45529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2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Database · model · enforcement · cryptographic runtime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447CB4F-EB07-4866-B36E-A6289A65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5048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1B0687C-8E24-4207-89E4-ECA88BF3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scripts/seed_demo.py --reset-local-db</a:t>
            </a:r>
          </a:p>
        </p:txBody>
      </p:sp>
    </p:spTree>
    <p:extLst>
      <p:ext uri="{BB962C8B-B14F-4D97-AF65-F5344CB8AC3E}">
        <p14:creationId xmlns:p14="http://schemas.microsoft.com/office/powerpoint/2010/main" val="20757664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F99499A1-EF55-4164-A40C-0767ED6572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Business Potential and Relevance</a:t>
            </a:r>
          </a:p>
        </p:txBody>
      </p:sp>
      <p:pic>
        <p:nvPicPr>
          <p:cNvPr id="173" name="Google Shape;133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f314a23f1643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2993C7B6-5B02-4E3C-8214-A2DCF7B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FinSpark focuses first on privileged sessions where a single unsafe action can affect core banking services.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361B54E-EB7C-4B75-A4E1-A489B0F7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8E253C9-E480-456D-98B7-E250F4C5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BANKING VALUE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959CEC1-8E5A-443B-9ACB-F77D1BF7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3DB3EF8-486D-4788-B782-58F5954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DE910FF-6AD4-4663-B6F5-AEC4329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BANKING VALUE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273D4A1-3C96-4EBC-AC28-41284F46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028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AA31367-0719-4D46-9280-E78F33C1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09E0A7D-A50E-45A7-9505-BC3F7565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USE CASE 01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06D40F6-DD52-44B0-9C89-6E3D2686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Database administration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5412519-6DC1-4515-8924-1871D62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Core ledger · customer data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Backup and export activity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Break-glass access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5243031-324E-45FD-ACDF-AF003ABB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3028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D61FA2F-3C07-46F8-8DB5-4597364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058AD6A-7A19-42C9-94BE-AD6B6AF3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3835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USE CASE 02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672B3E2-51E3-4816-BA88-3EC5078C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9552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Payments and platforms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645450A-6E0D-49D1-AA94-8D2C648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622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Payment gateways · API fleets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Production recovery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High-risk command activity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C29AEA2-753B-498E-B865-36E978C2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3429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F4E38DA-F8A9-4283-905D-A2D95FF4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5B312CF-046A-4FAA-A5E9-3AE7CC1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USE CASE 03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D4C0865-F767-427D-A298-8071311C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955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Identity and service accounts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E6F7B1D-C84D-40D4-B382-90A78AFE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3028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Policy changes · key rotation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Service-account misuse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Privilege escalation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F30F641-CEA4-4F76-82F9-C8FBDDF7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Verified demo baseline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3FC15D7-B3C4-4FD9-8116-73184D7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238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CE83123-D131-4031-B252-9B02752B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SESSIONS ASSESSED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9C70892-6C2F-44D0-805F-F194B8C5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895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D5E2EEE-D2C9-4C40-B9E6-D8AF4B4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curated scenarios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5935F2C-AE67-4914-AFB7-974DD5A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00550"/>
            <a:ext cx="2238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910CEC3-F004-4FF0-BACC-AEC9B862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434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ANALYST FLAGS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F03600A-343C-45EB-B248-1A79EA60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743450"/>
            <a:ext cx="1895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B6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B61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35CED4B9-3DE8-445F-800F-7008449F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143500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 step-up · 3 block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C18B54D-DA0B-4CE0-86BC-E8199ECE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00550"/>
            <a:ext cx="2238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76E40A4-E545-4821-AF6D-059B5639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43425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AVERAGE RISK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18A7EBE-5694-4BF7-B2DA-694E807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43450"/>
            <a:ext cx="1895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57.78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B161E2C-EB3F-4943-A54F-6AED6FF1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143500"/>
            <a:ext cx="1895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0–100 scale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8125232-E703-437F-894C-10E513D0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00550"/>
            <a:ext cx="2714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F1E23DE-3894-4720-8701-683D4647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529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scorecard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D5199B8-824A-41BC-841D-3298699F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5775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Decision agreement · false-positive review · response success · analyst handling time</a:t>
            </a:r>
          </a:p>
        </p:txBody>
      </p:sp>
    </p:spTree>
    <p:extLst>
      <p:ext uri="{BB962C8B-B14F-4D97-AF65-F5344CB8AC3E}">
        <p14:creationId xmlns:p14="http://schemas.microsoft.com/office/powerpoint/2010/main" val="102948661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Google Shape;139;p9">
            <a:extLst xmlns:a="http://schemas.openxmlformats.org/drawingml/2006/main">
              <a:ext uri="{FF2B5EF4-FFF2-40B4-BE49-F238E27FC236}">
                <a16:creationId xmlns:a16="http://schemas.microsoft.com/office/drawing/2014/main" id="{828F62CA-876F-4E56-8672-5C51D08135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Uniqueness of Approach and Solution</a:t>
            </a:r>
          </a:p>
        </p:txBody>
      </p:sp>
      <p:pic>
        <p:nvPicPr>
          <p:cNvPr id="191" name="Google Shape;14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9b94f22f934a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9">
            <a:extLst xmlns:a="http://schemas.openxmlformats.org/drawingml/2006/main">
              <a:ext uri="{FF2B5EF4-FFF2-40B4-BE49-F238E27FC236}">
                <a16:creationId xmlns:a16="http://schemas.microsoft.com/office/drawing/2014/main" id="{F3AA9B89-627C-42D1-8129-A8C5F1D8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Our edge is not the risk score alone; it is the system behavior around that score.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D98DCF9-3A29-44B2-B0F3-228D2355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9410B4D-BBB9-40D4-8490-E90BBC2E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PROTOTYPE VS SYSTEM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A9FD9A3-F272-4601-BDA8-1C7C474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5E5DAA9-83C9-4F2B-A0C3-442CCA75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241E306-E53D-4CAC-A172-5786AE56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PROTOTYPE VS SYSTEM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C2BD177-58AC-4985-8930-A38AD1C7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9DB254B-11D9-405F-A8B9-E6FFC799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15F8A9C-8401-4543-BD64-9E5D8CAE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288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388BB4A-D4D9-406D-A89C-4F5BE3F8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954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COMMON SHORTCUT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708B349-EF34-4293-B4E1-8311D70C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28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D799CCF-927D-4040-9F2B-9B6E872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95475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FINSPARK SENTINEL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7AAFBED-025E-4216-92F5-C36FBDBA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12B3C00-198F-42A8-9F70-9379EB17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4A37E04-E7B7-49FB-BC2F-EDC9E1D6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86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7EE25A3-9A33-48B2-B19B-797D12D7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526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Pre-set number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216C4B3-8C71-4C42-91D8-AF502F92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078504F-C93F-4637-A171-EEC53BE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5267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Baseline + Isolation Forest + context + rules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62976C2-B280-4ABD-9384-329A478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3086705-FC48-4AAD-8166-83193077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8A91529-7D08-4F77-A075-A2661AD4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3403403-0E04-4882-924E-5A4044D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051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Frontend state change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1DE27FF-CAED-4ECC-A876-45A9D28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384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2D07E69-4C0D-41EB-A41E-34BA3909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API action + PAM outcome + reference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652EC59-9A66-4D59-8717-EE0C71AA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8A69C56-57B9-4DA4-B09D-0A573B75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DA1CFDB-78BC-49F8-AE5F-613CFCF5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DA41181-9406-4BC9-A0B3-75BC5643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575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One activity list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4BC586C-1D44-4DE9-B791-B60D810C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909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65BD95B-4D88-442C-8DE9-4D26652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5757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Engine decision and analyst response separated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26F1B9E-3A30-4B18-9FB7-9A4FED77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D0FA83A-6D4B-489C-80DA-3933AB0F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E3AABE6-E7A4-43F1-BF84-8621B7C1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34F86DE-502E-4775-B91F-6ECD15B0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100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Happy-path submit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FE888BC-6B8A-4BA3-AC06-6FDF1866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433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DBB8780-F40E-46F5-AA44-DF5780F7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100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Unique event ID · idempotent replay · retry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478A487-025C-4918-85EE-D0445691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2F31C10F-38F0-427C-8847-8F2544E6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PQC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C3DE35EC-D290-46AA-ABC9-7D66AA95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95A4850-74E2-4B55-BA6A-630626E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624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Algorithm label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F26BEA4-B529-4064-880B-804A654C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958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A659814-CB26-4801-B979-96CEE09A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6247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OQS path in Docker; compatibility mode disclosed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02E24C7-191D-4E7D-9044-B8118465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DC31A34-9B85-4505-946F-5BB65757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EC2A59A-945F-4EF8-B5F8-3A8156D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77EAA4B-7FF1-469A-AC3D-43AB65AC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149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Single demo page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3A53BAC-07B1-4FEC-9F6B-CFFB00F0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482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B9CCFF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7CFCE0B-DE9D-42D4-8073-E1C5E982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149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Roles · policy · health · migrations · exports</a:t>
            </a:r>
          </a:p>
        </p:txBody>
      </p:sp>
    </p:spTree>
    <p:extLst>
      <p:ext uri="{BB962C8B-B14F-4D97-AF65-F5344CB8AC3E}">
        <p14:creationId xmlns:p14="http://schemas.microsoft.com/office/powerpoint/2010/main" val="17070495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Google Shape;146;p10">
            <a:extLst xmlns:a="http://schemas.openxmlformats.org/drawingml/2006/main">
              <a:ext uri="{FF2B5EF4-FFF2-40B4-BE49-F238E27FC236}">
                <a16:creationId xmlns:a16="http://schemas.microsoft.com/office/drawing/2014/main" id="{113076D6-B279-4A67-A44D-4C57F8AA8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User Experience</a:t>
            </a:r>
          </a:p>
        </p:txBody>
      </p:sp>
      <p:pic>
        <p:nvPicPr>
          <p:cNvPr id="182" name="Google Shape;147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6bc68dfc60484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8" name="Google Shape;148;p10">
            <a:extLst xmlns:a="http://schemas.openxmlformats.org/drawingml/2006/main">
              <a:ext uri="{FF2B5EF4-FFF2-40B4-BE49-F238E27FC236}">
                <a16:creationId xmlns:a16="http://schemas.microsoft.com/office/drawing/2014/main" id="{BD628475-B1CF-43B8-88DB-946B598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The console keeps the analyst on one session record from alert to documented response.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315AF4E-FA37-4146-B335-9DAEEDD4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5B0AF86-4571-400C-B6B9-8EF06D19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ANALYST WORKFLOW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E369565-646E-4491-A570-258A1D0F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F921D99-BB9D-413E-AE9F-B5C6FDC7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EC29EC5-066E-4305-9522-49E3EEB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ANALYST WORKFLOW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C7C0C45-7BF4-4E79-A36C-D0A383D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42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2116999-FD3B-4F3E-9C36-E879A602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0177383-A345-484D-B55E-4E564B3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223C375-9C88-422A-AE87-AF3D4DF1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002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100F4F3-B68C-4F4B-8675-99AE632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145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See the highest-risk sessions first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9D96BFA-372A-4186-A33F-D8FBB83F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42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7022303-31F1-49D6-B237-21605CF8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8D6E040-E816-49DE-B193-4614AD0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CE909B4-6DF9-4A34-9185-0931446D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A86A2E2-D50A-4818-9A0A-C357B8C2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Compare baseline, timeline and factor weights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2B8E6D5-6697-4939-83CF-3823E44E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342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5FABB14-1647-4B9B-A134-D363A555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833D6E2-01F9-458F-AFC2-8E924CA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255BDDD-50A1-4AFB-804A-33A60AD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0D1E184-A2A1-443E-89DA-34EBED1A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Allow, step-up or block with an analyst note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8639CE0-7B03-445C-BBB1-6189D11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34290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F974AF7-5A27-4A01-AED0-514CA7F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6941C6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3E5D991-7E64-45D8-82D7-F0269A64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C632DE9-BC04-4F78-ABDC-105ED24D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3D32BBC-88C4-4CD0-ACEB-D5739A3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43525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Confirm enforcement status and audit entry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4A22E41-72CE-4902-BF00-F3DD40D4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65722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a101775b24cfa"/>
          <a:stretch xmlns:a="http://schemas.openxmlformats.org/drawingml/2006/main"/>
        </p:blipFill>
        <p:spPr>
          <a:xfrm xmlns:a="http://schemas.openxmlformats.org/drawingml/2006/main">
            <a:off x="4488673" y="1885950"/>
            <a:ext cx="6434104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4206B63-08CE-4526-8FDC-3338599D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38350"/>
            <a:ext cx="1123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1B837DD-E1AA-4B5B-9E7D-E6DF3AF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93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100/100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E212C15-2644-4774-AEE7-0D8E68E9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830D074-C973-498C-83C5-E97CEF2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FACTORS</a:t>
            </a:r>
          </a:p>
        </p:txBody>
      </p:sp>
    </p:spTree>
    <p:extLst>
      <p:ext uri="{BB962C8B-B14F-4D97-AF65-F5344CB8AC3E}">
        <p14:creationId xmlns:p14="http://schemas.microsoft.com/office/powerpoint/2010/main" val="1775801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11">
            <a:extLst xmlns:a="http://schemas.openxmlformats.org/drawingml/2006/main">
              <a:ext uri="{FF2B5EF4-FFF2-40B4-BE49-F238E27FC236}">
                <a16:creationId xmlns:a16="http://schemas.microsoft.com/office/drawing/2014/main" id="{3A56F239-695A-40E6-A7DF-C3FC11637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Scalability</a:t>
            </a:r>
          </a:p>
        </p:txBody>
      </p:sp>
      <p:pic>
        <p:nvPicPr>
          <p:cNvPr id="192" name="Google Shape;154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8ef60f98f047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1">
            <a:extLst xmlns:a="http://schemas.openxmlformats.org/drawingml/2006/main">
              <a:ext uri="{FF2B5EF4-FFF2-40B4-BE49-F238E27FC236}">
                <a16:creationId xmlns:a16="http://schemas.microsoft.com/office/drawing/2014/main" id="{33D7B021-0E51-45AC-A7C1-CFB7A02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Keep the pilot operable today; separate high-volume components only when evidence justifies it.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8CB177A-1063-4C85-8EC2-07E1FFCA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C9D3448-628F-4F5A-BF15-7BDFD076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SCALE PATH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88FF4C-12AE-4934-88DA-99BE3D03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C7F8307-C30B-4CD7-8056-DFDF0F24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C0C6D89-AB89-498D-BEEF-9BA4D6D5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SCALE PATH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5C14909-1DE9-4EF1-B133-C28EFCA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Pilot architecture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AC90A0-C95E-4CAA-8059-CA2DB7E0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048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7AF19E8-611C-4563-AB03-57C540FB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D62903E-C30E-4908-AC95-32D8FBB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2397C83-087B-46EA-AD30-7D012FF4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64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Modular monolith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FF78E3B-9FA8-49B7-8A3C-3F194D5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647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Single deployable API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Shared policy and persistence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Clear adapter interfaces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68EB211-1CCC-4B68-9987-80344DA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2892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F5F8D8B-12FF-4797-95EA-29261FB2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59436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0C31D39-1DD5-4921-90D2-08C2F94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6DD4454-39E5-4547-B824-8042E52D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554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SCALE OUT WHEN NEEDED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56B094D-5C1A-4A71-9BEB-8C98A4B6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00325"/>
            <a:ext cx="554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Independent workers and adapters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25533B6-6E52-4523-B51B-45FC63C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554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Stateless API replicas · shared PostgreSQL · event queue · model workers · regional enforcement connectors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9751519-0E2E-4687-97E7-9542432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Growth dimensions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FF789CF-10B6-4F90-A4E0-6CF964F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28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84ED1E1-B993-4BF5-BA02-F8BDE4F5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9E006E0-9FF5-4B34-9F20-AE7D4794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Branches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699ED18-B348-4B2D-B7A4-45D6533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Route context by tenant and region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954AC67-E484-4046-A4F2-F89F05F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28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B671076-DA1C-486F-9F3B-2C6AA821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B0A4CC0-0F54-4C97-BB6A-12265E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00F3527-ACDC-420B-8103-A50FD4C8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9434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Stateless API replicas behind ingress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C540F69-ED81-453B-B70C-DAF374F3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57700"/>
            <a:ext cx="228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1BE7F43-A290-4908-9BE0-EBC48971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6941C6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04D2591-DC20-4389-B1DE-941289A8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Events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EB8B2DB-98C7-4975-84F6-FD50E64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434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Queue-backed ingestion and worker pools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C277567-B07B-449B-83A2-7AC0C661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57700"/>
            <a:ext cx="2286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495FFC0-08A4-4522-8420-C562EBC9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D92D20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1F94DB9-AE46-462C-B0C3-378E415D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72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Systems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8D218C5-D321-40E4-BB1D-29B534E5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43475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Adapter per PAM, IAM or database control plane</a:t>
            </a:r>
          </a:p>
        </p:txBody>
      </p:sp>
    </p:spTree>
    <p:extLst>
      <p:ext uri="{BB962C8B-B14F-4D97-AF65-F5344CB8AC3E}">
        <p14:creationId xmlns:p14="http://schemas.microsoft.com/office/powerpoint/2010/main" val="180771943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Google Shape;160;p12">
            <a:extLst xmlns:a="http://schemas.openxmlformats.org/drawingml/2006/main">
              <a:ext uri="{FF2B5EF4-FFF2-40B4-BE49-F238E27FC236}">
                <a16:creationId xmlns:a16="http://schemas.microsoft.com/office/drawing/2014/main" id="{E425E99F-3310-420C-88A6-3D2CCC10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Ease of Deployment and Maintenance</a:t>
            </a:r>
          </a:p>
        </p:txBody>
      </p:sp>
      <p:pic>
        <p:nvPicPr>
          <p:cNvPr id="197" name="Google Shape;161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dcfa7c47dd4c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2" name="Google Shape;162;p12">
            <a:extLst xmlns:a="http://schemas.openxmlformats.org/drawingml/2006/main">
              <a:ext uri="{FF2B5EF4-FFF2-40B4-BE49-F238E27FC236}">
                <a16:creationId xmlns:a16="http://schemas.microsoft.com/office/drawing/2014/main" id="{5B749802-32D3-40F6-B1BF-1AFFDF87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The same codebase supports a fast judge run, a reproducible Docker demo, and a controlled bank pilot.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6BE7800-2A55-42F0-B5B9-8FA1E334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331B797-FB49-45BB-8D85-AAB71FBD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OPERATE SAFELY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2BEF533E-0415-4711-AA82-2F7F0788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870F5D0-A20A-4F89-AF83-7EF6729D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88F3C14-CA77-462D-B824-6ECA5F7F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OPERATE SAFELY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08F61B0-1B90-40BE-AD71-6DF47F26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0289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FCA99C3C-4DB1-45F2-A83D-EB56BCEB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DC58878-634C-42DC-89E8-77B4F0E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MODE 01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F92057D-C97E-4E2B-B945-7F59ABE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Local judge run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42180A1-2F73-4E94-942C-27E34FCA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628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SQLite · compatibility crypto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Sandbox PAM adapter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One-command deterministic seed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Best for fast product walkthrough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167EDA5-CA39-4F43-9051-6A67423A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5950"/>
            <a:ext cx="30289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9468DEE-90D9-4772-8A37-A2A05632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595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23A4F62-A322-4DBE-8828-49424E2C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574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MODE 02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75F57B6-E097-40D0-86D1-899A03C2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145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demonstration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595F6E6-5E88-4269-999D-1253F446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628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Compose-managed API and web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OQS runtime path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Reproducible dependencies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Health and readiness checks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AB2C36E-0C98-42DF-9D64-E33EEA3C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34290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39E2455-548B-4FDC-9484-74AE7904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5950"/>
            <a:ext cx="4762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73AA24F-526B-4A5B-83B4-5F7A9D98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5740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MODE 03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FA89B57-DDF1-4ABB-AB9D-61F2C3CD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1457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Bank pilot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F9EA938-74C5-4E2E-8262-8408FE24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81300"/>
            <a:ext cx="30289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PostgreSQL · hardened ingress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OIDC + mTLS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HSM / KMS key boundary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Append-only audit destination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06BA0F2-8894-4E03-9F0D-2D8E715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99441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EDA88FE-2B85-42EE-B46B-B48D5405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0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Maintenance hooks already present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0D0E1C0-4BE9-4F36-8B26-54E4154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982AB6F-F1B1-47A7-AB33-24EDB2CD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387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Alembic migrations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2BD6233-5AA8-416B-92AE-07A89991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31C5ACA-41BA-443D-8A29-F406439F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387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Readiness endpoint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8EBD5CB-C685-4B89-8223-E75BC923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ABC9503-BD14-4726-BB0C-53C165C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387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Structured logs + metrics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D1FE30F-FFF9-491C-957D-198AC521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81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ABED548-7936-44F0-8ABA-D6E2FC3E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Environment configuration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23833BD-4C7A-4509-9E11-372E760D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81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9455"/>
          </a:solidFill>
          <a:ln xmlns:a="http://schemas.openxmlformats.org/drawingml/2006/main" w="0">
            <a:solidFill>
              <a:srgbClr val="07945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EF608F5-D132-4219-BBB1-3327C216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149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Automated API and seed tests</a:t>
            </a:r>
          </a:p>
        </p:txBody>
      </p:sp>
    </p:spTree>
    <p:extLst>
      <p:ext uri="{BB962C8B-B14F-4D97-AF65-F5344CB8AC3E}">
        <p14:creationId xmlns:p14="http://schemas.microsoft.com/office/powerpoint/2010/main" val="567625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Google Shape;167;p13">
            <a:extLst xmlns:a="http://schemas.openxmlformats.org/drawingml/2006/main">
              <a:ext uri="{FF2B5EF4-FFF2-40B4-BE49-F238E27FC236}">
                <a16:creationId xmlns:a16="http://schemas.microsoft.com/office/drawing/2014/main" id="{C49A27E7-CC4F-445E-B830-9BEE8A802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Security Considerations</a:t>
            </a:r>
          </a:p>
        </p:txBody>
      </p:sp>
      <p:pic>
        <p:nvPicPr>
          <p:cNvPr id="197" name="Google Shape;16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6c7f7526af4a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9" name="Google Shape;169;p13">
            <a:extLst xmlns:a="http://schemas.openxmlformats.org/drawingml/2006/main">
              <a:ext uri="{FF2B5EF4-FFF2-40B4-BE49-F238E27FC236}">
                <a16:creationId xmlns:a16="http://schemas.microsoft.com/office/drawing/2014/main" id="{2AFA1B58-EB01-47B7-B796-FB96B8A3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The model sits inside a layered control system; cryptographic and integration boundaries are shown honestly.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4CEB6B5-0EF0-41FE-8F4C-DECF727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15747F5-04DB-4BC2-84AD-11C1958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B9F9D56-2DE9-42FA-9329-C7B1E3AB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8C15AE-24CB-40CA-9B19-838E7426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1FAE803-1053-412E-978A-160CEC86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C2B10A0-EA08-4A77-94FC-833FF1E2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FE88249-BA44-41D9-BAF9-A97CC493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68567B8-2037-44D7-9CE4-6F7E79AA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Prevent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0D7D82E-FB4A-4DB4-BA8F-4251A310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335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Protected-route role checks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API-key auth available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Judge mode can disable auth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D5121FC-E2F4-4E85-BCFD-48570927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F991E40-7912-405A-98AD-DB54F52D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8397228-C3CF-49D4-B083-B8EF4D97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241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744DC40-58CA-44EC-990B-5AD00D9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289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Behavior baseline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Explainable factors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Deterministic threat rules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4880E07-E6F2-4465-A5DC-B13F0B37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91A8177-ECD0-4D8D-893F-55658D09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61A9532-853B-4F17-A3B5-B70D6175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8D51F8B-1407-4F38-A0AB-97B4C894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242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HMAC-signed adapter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Retries + idempotency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Persisted outcome reference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3F16B66-0E80-41A6-A354-874FB3C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000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40809A3-77AC-4570-BCF0-D525FBBB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876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1E9FAFC-64DC-40A5-BF45-C893756E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578A59E-4E93-4968-B16F-474FE7C0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96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Decision + analyst action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ML-DSA path in OQS runtime</a:t>
            </a:r>
          </a:p>
          <a:p xmlns:a="http://schemas.openxmlformats.org/drawingml/2006/main">
            <a:pPr algn="l">
              <a:defRPr sz="938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unsupported immutable claim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77402B6-E69C-4676-A4AA-E84A8C60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590550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33a0d8f894f5a"/>
          <a:stretch xmlns:a="http://schemas.openxmlformats.org/drawingml/2006/main"/>
        </p:blipFill>
        <p:spPr>
          <a:xfrm xmlns:a="http://schemas.openxmlformats.org/drawingml/2006/main">
            <a:off x="5139517" y="1847850"/>
            <a:ext cx="5722966" cy="321945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7DBC0C8-7DC1-4ACB-9DAF-0D103992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5905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1D274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10FB1BB-3D3B-4C8D-AF34-BB7BB5CC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149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Runtime truth: local compatibility mode is not labelled quantum-safe. Docker activates the OQS provider path.</a:t>
            </a:r>
          </a:p>
        </p:txBody>
      </p:sp>
    </p:spTree>
    <p:extLst>
      <p:ext uri="{BB962C8B-B14F-4D97-AF65-F5344CB8AC3E}">
        <p14:creationId xmlns:p14="http://schemas.microsoft.com/office/powerpoint/2010/main" val="2100105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Google Shape;174;p14">
            <a:extLst xmlns:a="http://schemas.openxmlformats.org/drawingml/2006/main">
              <a:ext uri="{FF2B5EF4-FFF2-40B4-BE49-F238E27FC236}">
                <a16:creationId xmlns:a16="http://schemas.microsoft.com/office/drawing/2014/main" id="{7924C634-A078-473A-A048-3A9841D4A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Architecture Diagram</a:t>
            </a:r>
          </a:p>
        </p:txBody>
      </p:sp>
      <p:pic>
        <p:nvPicPr>
          <p:cNvPr id="229" name="Google Shape;175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13473bf6e74e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6" name="Google Shape;176;p14">
            <a:extLst xmlns:a="http://schemas.openxmlformats.org/drawingml/2006/main">
              <a:ext uri="{FF2B5EF4-FFF2-40B4-BE49-F238E27FC236}">
                <a16:creationId xmlns:a16="http://schemas.microsoft.com/office/drawing/2014/main" id="{5912745A-0642-4CCE-A56F-6AC06A53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 privileged session becomes one traceable decision chain from telemetry to response and audit.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EA501AA-B53F-4F85-80F3-EF98EB4E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A4F5E98-9F9E-41EC-804E-988B8773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END-TO-END CONTROL LOOP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DD3556C-FA7B-427D-BDF4-FD111AF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62650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2F96F2D-C1A7-4CFB-AFAB-068ECD1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81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A7DC800-3481-4158-8990-55F9313A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010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END-TO-END CONTROL LOOP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9A6D7F4-D319-4CBD-B508-EE02B3B0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1600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D33779D-264E-4396-89BD-0BA54173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Telemetry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BF0BBEB-DFF1-4D59-ABF3-565A96A6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PAM · SIEM · DB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BD9A4AF-1CE7-4488-8EB6-DD71B1E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384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D15D72C-5355-48B3-9B6E-0A36FDF1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1600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F8175958-CF7E-4EAD-B3CD-5AA38C5D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API ingest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550089C4-900C-4E6F-AF0B-8B181DFB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Validate · claim event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A62D7D3-5F17-40BF-B4B2-83AE0B44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384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242EF72-B053-4B05-B344-164A33D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600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184C445-0E6D-402F-9053-1E1C1924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Risk engine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C926351-5D38-49FD-94F5-C0EBE9AA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Baseline · IF · rules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8EA71E7-3B6A-4611-B973-12A31DC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384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6550FAE-1A53-4E6B-ABDE-CE08E5BD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1600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4A7562BB-F1ED-4E84-95F7-E39906FE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B3FF50C-3360-4EB4-84B4-09F7DCB5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Allow · step-up · block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747669B-2BD5-492D-8524-05BEFE1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39BA215-12DB-401A-8C67-B90F50B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1600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3170BFF-4CBF-42E7-A125-F38707D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793E09F-1037-4019-83D2-D0EA150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PAM / IAM adapter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CC4DAD16-8BC3-4EAB-AE2A-E135204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38425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69DDCC3F-AF86-4582-99EB-C856CF54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71700"/>
            <a:ext cx="1600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48341CB-80F4-4534-B2F1-BB892CF5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622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0691EB90-2750-4BA7-B396-17CE881A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7D7EA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C7D7EA"/>
                </a:solidFill>
                <a:latin typeface="Arial"/>
                <a:ea typeface="Arial"/>
                <a:cs typeface="Arial"/>
              </a:rPr>
              <a:t>Decision + outcome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8497986-E86F-492C-9033-A7829E53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80F007A-4082-4443-88FD-FB296E16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Shared control services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033770B-3247-4EE2-8C9D-D17C1392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E679E3D-7D2B-4DCF-BA4A-F6065DF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2DEB7E5-19D5-486D-A573-217A0342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43399CF-FAF0-4D2F-AC19-82A1BD3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Identity + asset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5F611E0-77C5-4D8E-8F93-66F48838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Role, source, device, resource sensitivity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FCA1F67-C461-43BC-BD85-2C7BF0AE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B24203BA-EB38-4B1B-A06C-840F5ED0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D954FAF-67E1-45A4-A85F-9D9F797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719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41C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41C6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A2FB61D-C42F-4135-ACEB-B0FA1F40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291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isolation-forest-v1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78CFC5E-8D54-4C2B-838A-E9F8771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81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Fitted runtime with explicit readiness status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AA0475A-20DB-4F78-B9DA-75FA2319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CB3C230-72EA-4803-96C6-251055A9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E858A302-F7AE-4306-AD41-76BD482A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A251288-4840-47FE-B769-899CCDB2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291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SQLite / PostgreSQL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3DEC5004-1653-4DAC-8452-6B8F631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81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Sessions, policy, outcomes and analyst trail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B9F5122-2740-4A55-8E03-350EEB8A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27432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9CCA14D2-2169-489F-9EF3-F9326CA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6BE283F-2FBE-4493-B419-0484467C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2D2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2D20"/>
                </a:solidFill>
                <a:latin typeface="Arial"/>
                <a:ea typeface="Arial"/>
                <a:cs typeface="Arial"/>
              </a:rPr>
              <a:t>CRYPTOGRAPHY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0DA51AD-3311-4E21-9670-29BE34AA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291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OQS in Docker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EFED4F5-E1FD-41B7-8600-8F67D89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815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ML-KEM envelopes · ML-DSA audit signatures</a:t>
            </a:r>
          </a:p>
        </p:txBody>
      </p:sp>
    </p:spTree>
    <p:extLst>
      <p:ext uri="{BB962C8B-B14F-4D97-AF65-F5344CB8AC3E}">
        <p14:creationId xmlns:p14="http://schemas.microsoft.com/office/powerpoint/2010/main" val="5632175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15">
            <a:extLst xmlns:a="http://schemas.openxmlformats.org/drawingml/2006/main">
              <a:ext uri="{FF2B5EF4-FFF2-40B4-BE49-F238E27FC236}">
                <a16:creationId xmlns:a16="http://schemas.microsoft.com/office/drawing/2014/main" id="{3B88A897-C927-44A3-914D-96C0433E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1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100" b="1" i="0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Solution Screenshots and Live Demo</a:t>
            </a:r>
          </a:p>
        </p:txBody>
      </p:sp>
      <p:pic>
        <p:nvPicPr>
          <p:cNvPr id="215" name="Google Shape;182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611b00681e4f0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3" name="Google Shape;183;p15">
            <a:extLst xmlns:a="http://schemas.openxmlformats.org/drawingml/2006/main">
              <a:ext uri="{FF2B5EF4-FFF2-40B4-BE49-F238E27FC236}">
                <a16:creationId xmlns:a16="http://schemas.microsoft.com/office/drawing/2014/main" id="{1C496AF1-AD65-46A5-AE52-AC739FE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The seeded UI below is backed by the same API, policy, database, and audit records used in the walkthrough.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C59E7A2-1A12-48FE-9CBF-F397273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BEEF93D-5467-4B81-A5E5-30510DE2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5E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5EEF"/>
                </a:solidFill>
                <a:latin typeface="Arial"/>
                <a:ea typeface="Arial"/>
                <a:cs typeface="Arial"/>
              </a:rPr>
              <a:t>WORKING EVIDENCE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C65821B-6F45-40BA-AFC0-BBA2F64D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381125"/>
            <a:ext cx="457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D66F1AE-CC8F-4247-9B86-D5B7C03D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14001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9FC700A-0EE8-40E7-B8B1-6278D059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WORKING EVIDENCE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4B43958-50B4-4879-AA7A-3BCE4823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2578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fa312c68143c1"/>
          <a:stretch xmlns:a="http://schemas.openxmlformats.org/drawingml/2006/main"/>
        </p:blipFill>
        <p:spPr>
          <a:xfrm xmlns:a="http://schemas.openxmlformats.org/drawingml/2006/main">
            <a:off x="645808" y="1847850"/>
            <a:ext cx="5147283" cy="2895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E66A526-80A2-4580-8F47-66DCBD0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52578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03b4be4d64fb9"/>
          <a:stretch xmlns:a="http://schemas.openxmlformats.org/drawingml/2006/main"/>
        </p:blipFill>
        <p:spPr>
          <a:xfrm xmlns:a="http://schemas.openxmlformats.org/drawingml/2006/main">
            <a:off x="6075058" y="1847850"/>
            <a:ext cx="5147283" cy="2895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BD62675-2A2D-4A7F-9FA1-186AE3AA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123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23F7DE22-CE4A-4ABA-ABFB-EDF83A1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 SESSIONS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8A457E5-D8B7-4ACA-B3D2-67ED1E9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9F48FC8-D994-45A9-AB03-345DF425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002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/ 100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284EFC2-E81F-45E3-B3FD-CE776428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90-second judge route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F04C18C-5DF5-437C-862B-D7E8E80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04D0C5A0-44DA-4D5B-9E8F-E8E4BBA9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EEF"/>
          </a:solidFill>
          <a:ln xmlns:a="http://schemas.openxmlformats.org/drawingml/2006/main" w="0">
            <a:solidFill>
              <a:srgbClr val="155EEF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5F7F91C-BA3A-421F-B9C2-722DFC8D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C6785B0-6394-4E81-AD76-BBF4C82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483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misuse scenario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0EDAF53F-48E0-4900-AD56-2E1CD740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6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Observe → analyze → decide → record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6E9EB38-494D-4443-BDFB-884D9D98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95900"/>
            <a:ext cx="3143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0535E7A-E414-40C5-AC1D-EDA7C01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6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86"/>
          </a:solidFill>
          <a:ln xmlns:a="http://schemas.openxmlformats.org/drawingml/2006/main" w="0">
            <a:solidFill>
              <a:srgbClr val="007F86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E3E8B46-AEB8-40E6-B327-5CBD739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768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4A98BE0-A70A-4C67-9665-6B6F167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4483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 the session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98C7745-6CDA-49FF-BC49-23D1B33E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6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Inspect baseline, timeline and factors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8BC6D6C-A407-4140-ACCD-AEB4F66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95900"/>
            <a:ext cx="39433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EB0A200-F79B-473C-8E50-131ED9A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67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41C6"/>
          </a:solidFill>
          <a:ln xmlns:a="http://schemas.openxmlformats.org/drawingml/2006/main" w="0">
            <a:solidFill>
              <a:srgbClr val="6941C6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7B96095-1511-4B3B-8FB4-35492CB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476875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BCA159F-6BA9-4C41-A350-74CEF21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83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Confirm audit record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16D47E4-C9F2-444B-82A1-0FC3E1B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62625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Show response status and replay-safe evidence</a:t>
            </a:r>
          </a:p>
        </p:txBody>
      </p:sp>
    </p:spTree>
    <p:extLst>
      <p:ext uri="{BB962C8B-B14F-4D97-AF65-F5344CB8AC3E}">
        <p14:creationId xmlns:p14="http://schemas.microsoft.com/office/powerpoint/2010/main" val="17531529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p16">
            <a:extLst xmlns:a="http://schemas.openxmlformats.org/drawingml/2006/main">
              <a:ext uri="{FF2B5EF4-FFF2-40B4-BE49-F238E27FC236}">
                <a16:creationId xmlns:a16="http://schemas.microsoft.com/office/drawing/2014/main" id="{66B87195-84C6-4171-8191-B9B78DEB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7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700" b="1" i="0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Make every privileged session</a:t>
            </a:r>
          </a:p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  <a:defRPr sz="2700" b="1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defRPr>
            </a:pPr>
            <a:r>
              <a:rPr sz="2700" b="1" i="0" u="none" cap="none">
                <a:solidFill>
                  <a:srgbClr val="007F86"/>
                </a:solidFill>
                <a:latin typeface="Quattrocento Sans"/>
                <a:ea typeface="Quattrocento Sans"/>
                <a:cs typeface="Quattrocento Sans"/>
              </a:rPr>
              <a:t>explainable and accountable.</a:t>
            </a:r>
          </a:p>
        </p:txBody>
      </p:sp>
      <p:sp>
        <p:nvSpPr>
          <p:cNvPr id="189" name="Google Shape;189;p16">
            <a:extLst xmlns:a="http://schemas.openxmlformats.org/drawingml/2006/main">
              <a:ext uri="{FF2B5EF4-FFF2-40B4-BE49-F238E27FC236}">
                <a16:creationId xmlns:a16="http://schemas.microsoft.com/office/drawing/2014/main" id="{6474799E-A160-4CE4-B667-5741682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Arial"/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 i="0" u="none" cap="none">
                <a:solidFill>
                  <a:srgbClr val="101828"/>
                </a:solidFill>
                <a:latin typeface="Arial"/>
                <a:ea typeface="Arial"/>
                <a:cs typeface="Arial"/>
              </a:rPr>
              <a:t>Team xdcoderz · Adittya Sharma · Devyanshu Agrawal</a:t>
            </a:r>
          </a:p>
        </p:txBody>
      </p:sp>
      <p:pic>
        <p:nvPicPr>
          <p:cNvPr id="215" name="Google Shape;19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726ee3675c41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62942" y="155106"/>
            <a:ext cx="1755446" cy="2059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1" name="Google Shape;191;p16">
            <a:extLst xmlns:a="http://schemas.openxmlformats.org/drawingml/2006/main">
              <a:ext uri="{FF2B5EF4-FFF2-40B4-BE49-F238E27FC236}">
                <a16:creationId xmlns:a16="http://schemas.microsoft.com/office/drawing/2014/main" id="{13771908-4947-453D-91F6-F76BD262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Our ask: validate the control loop with mirrored PAM / SIEM events and security-operations feedback.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D13DA51-3FB7-4C5E-BCC9-89D6ED5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4775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86C7DDD-6A8A-4839-9A1C-3A861BD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19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7291D42-0193-45AC-80D7-991DC730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717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2BE3946-3FD0-4A09-A554-F70948C3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194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69769E3-1007-4BDA-85FC-FDA47377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B5D8"/>
          </a:solidFill>
          <a:ln xmlns:a="http://schemas.openxmlformats.org/drawingml/2006/main" w="0">
            <a:solidFill>
              <a:srgbClr val="8FB5D8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1EA4037-C7AF-4B6D-B0C5-D6581F1B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2019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6941C6"/>
          </a:solidFill>
          <a:ln xmlns:a="http://schemas.openxmlformats.org/drawingml/2006/main" w="9525">
            <a:solidFill>
              <a:srgbClr val="6941C6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937E6E6-4933-4AB9-A6CF-093E2224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717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2B56B84-7AEE-4005-942D-F8E2644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194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30A6AA2-B67F-4EBF-A745-1DB84B86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B5D8"/>
          </a:solidFill>
          <a:ln xmlns:a="http://schemas.openxmlformats.org/drawingml/2006/main" w="0">
            <a:solidFill>
              <a:srgbClr val="8FB5D8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51CF72E-7972-4732-A02C-8F40AD29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2019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07F86"/>
          </a:solidFill>
          <a:ln xmlns:a="http://schemas.openxmlformats.org/drawingml/2006/main" w="9525">
            <a:solidFill>
              <a:srgbClr val="007F86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EB69AB7-8C13-4566-BE5B-19DB9F7B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717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84C8D8F-C35B-4C6C-A24E-A28F5C11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194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22FF751-8780-468F-A558-C297E1C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FB5D8"/>
          </a:solidFill>
          <a:ln xmlns:a="http://schemas.openxmlformats.org/drawingml/2006/main" w="0">
            <a:solidFill>
              <a:srgbClr val="8FB5D8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CC9B40D-4AF8-4898-B5EC-51386247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20193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92D20"/>
          </a:solidFill>
          <a:ln xmlns:a="http://schemas.openxmlformats.org/drawingml/2006/main" w="9525">
            <a:solidFill>
              <a:srgbClr val="D92D20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051F95B9-37C8-4BAA-B879-D8A01C88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717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846F4BD4-712C-4236-8387-BD8E8FE6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194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DE8C197-46F2-4995-A7A5-96F88A5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6267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9525">
            <a:solidFill>
              <a:srgbClr val="E8F7F1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289EE20-042D-4BFA-9D4F-E3FF09A9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607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94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9455"/>
                </a:solidFill>
                <a:latin typeface="Arial"/>
                <a:ea typeface="Arial"/>
                <a:cs typeface="Arial"/>
              </a:rPr>
              <a:t>Detect early · apply the least disruptive control · keep evidence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34A9077-A392-46A3-B913-D4A328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9575"/>
            <a:ext cx="2533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CDDF5F9-F43A-45BB-BE1A-C17522C1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386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LIVE: localhost:5173</a:t>
            </a:r>
          </a:p>
        </p:txBody>
      </p:sp>
    </p:spTree>
    <p:extLst>
      <p:ext uri="{BB962C8B-B14F-4D97-AF65-F5344CB8AC3E}">
        <p14:creationId xmlns:p14="http://schemas.microsoft.com/office/powerpoint/2010/main" val="156394481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2026-07-16T09:02:24.3690000Z</dcterms:created>
  <dcterms:modified xsi:type="dcterms:W3CDTF">2026-07-16T09:02:24.3690000Z</dcterms:modified>
</coreProperties>
</file>